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</p:sldMasterIdLst>
  <p:notesMasterIdLst>
    <p:notesMasterId r:id="rId24"/>
  </p:notesMasterIdLst>
  <p:sldIdLst>
    <p:sldId id="256" r:id="rId3"/>
    <p:sldId id="258" r:id="rId4"/>
    <p:sldId id="306" r:id="rId5"/>
    <p:sldId id="307" r:id="rId6"/>
    <p:sldId id="309" r:id="rId7"/>
    <p:sldId id="310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284" r:id="rId16"/>
    <p:sldId id="285" r:id="rId17"/>
    <p:sldId id="311" r:id="rId18"/>
    <p:sldId id="317" r:id="rId19"/>
    <p:sldId id="304" r:id="rId20"/>
    <p:sldId id="316" r:id="rId21"/>
    <p:sldId id="267" r:id="rId22"/>
    <p:sldId id="268" r:id="rId23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D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17"/>
    <p:restoredTop sz="94687"/>
  </p:normalViewPr>
  <p:slideViewPr>
    <p:cSldViewPr snapToGrid="0">
      <p:cViewPr varScale="1">
        <p:scale>
          <a:sx n="88" d="100"/>
          <a:sy n="88" d="100"/>
        </p:scale>
        <p:origin x="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01" d="100"/>
          <a:sy n="101" d="100"/>
        </p:scale>
        <p:origin x="2688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085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76824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4926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61743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-1-1.jpeg" descr="image-1-1.jpeg">
            <a:extLst>
              <a:ext uri="{FF2B5EF4-FFF2-40B4-BE49-F238E27FC236}">
                <a16:creationId xmlns:a16="http://schemas.microsoft.com/office/drawing/2014/main" id="{CF99CE7C-165B-5785-AF09-91D132784A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0114"/>
          </a:blip>
          <a:srcRect l="31295" r="29201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solidFill>
            <a:schemeClr val="tx1">
              <a:alpha val="84799"/>
            </a:schemeClr>
          </a:solidFill>
          <a:ln w="12700">
            <a:miter lim="400000"/>
          </a:ln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0B419C1-2797-36F1-115B-48A31D1F55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EF9142-9B50-4DD1-86C3-F7DA40585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A5AEA-1E91-D742-A462-5AFA8701875A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93916F-FEBA-C7B7-8CF6-CF7383DF0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C7C406-66EF-6EE9-6E45-160B60C73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95D75-C039-4B46-A229-BE6DE92D4B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8223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-1-1.jpeg" descr="image-1-1.jpeg">
            <a:extLst>
              <a:ext uri="{FF2B5EF4-FFF2-40B4-BE49-F238E27FC236}">
                <a16:creationId xmlns:a16="http://schemas.microsoft.com/office/drawing/2014/main" id="{A179168D-6F29-DFCB-3806-AE351840AB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175"/>
          </a:blip>
          <a:srcRect l="58789" r="1704"/>
          <a:stretch/>
        </p:blipFill>
        <p:spPr>
          <a:xfrm>
            <a:off x="0" y="0"/>
            <a:ext cx="18288000" cy="10287001"/>
          </a:xfrm>
          <a:prstGeom prst="rect">
            <a:avLst/>
          </a:prstGeom>
          <a:solidFill>
            <a:schemeClr val="tx1">
              <a:alpha val="91905"/>
            </a:schemeClr>
          </a:solidFill>
          <a:ln w="12700">
            <a:miter lim="400000"/>
          </a:ln>
        </p:spPr>
      </p:pic>
      <p:pic>
        <p:nvPicPr>
          <p:cNvPr id="8" name="Image 0" descr="Image 0">
            <a:extLst>
              <a:ext uri="{FF2B5EF4-FFF2-40B4-BE49-F238E27FC236}">
                <a16:creationId xmlns:a16="http://schemas.microsoft.com/office/drawing/2014/main" id="{4837F5B5-CC24-375D-DF9E-755A6B1CFC2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952818" y="492918"/>
            <a:ext cx="2001218" cy="266701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1DE5BB06-3616-026F-1262-3DA65BF6DCF3}"/>
              </a:ext>
            </a:extLst>
          </p:cNvPr>
          <p:cNvSpPr txBox="1"/>
          <p:nvPr userDrawn="1"/>
        </p:nvSpPr>
        <p:spPr>
          <a:xfrm>
            <a:off x="14936688" y="457200"/>
            <a:ext cx="2863207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algn="r">
              <a:defRPr>
                <a:solidFill>
                  <a:srgbClr val="FFFFFF">
                    <a:alpha val="32000"/>
                  </a:srgb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ru-RU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9E9E8E4E-7803-EF57-9599-415D7CB5C25F}"/>
              </a:ext>
            </a:extLst>
          </p:cNvPr>
          <p:cNvSpPr txBox="1"/>
          <p:nvPr userDrawn="1"/>
        </p:nvSpPr>
        <p:spPr>
          <a:xfrm>
            <a:off x="830989" y="1547929"/>
            <a:ext cx="16626022" cy="171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749808">
              <a:defRPr sz="5412" b="1" spc="-164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  <a:endParaRPr lang="ru-RU" dirty="0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FCBA2CB4-1797-7B49-C2DC-F939613A2A6F}"/>
              </a:ext>
            </a:extLst>
          </p:cNvPr>
          <p:cNvSpPr txBox="1"/>
          <p:nvPr userDrawn="1"/>
        </p:nvSpPr>
        <p:spPr>
          <a:xfrm>
            <a:off x="952818" y="4442373"/>
            <a:ext cx="15092045" cy="5884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defTabSz="850391">
              <a:lnSpc>
                <a:spcPct val="130000"/>
              </a:lnSpc>
              <a:defRPr sz="2511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 marL="457200" indent="-457200">
              <a:buClr>
                <a:srgbClr val="4AD9FF"/>
              </a:buClr>
              <a:buSzPct val="120000"/>
              <a:buFont typeface="Arial" panose="020B0604020202020204" pitchFamily="34" charset="0"/>
              <a:buChar char="•"/>
            </a:pPr>
            <a:endParaRPr lang="ru-RU" sz="32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0C8AF691-E723-1B96-17D1-0882D11DA693}"/>
              </a:ext>
            </a:extLst>
          </p:cNvPr>
          <p:cNvSpPr txBox="1"/>
          <p:nvPr userDrawn="1"/>
        </p:nvSpPr>
        <p:spPr>
          <a:xfrm>
            <a:off x="15089088" y="609600"/>
            <a:ext cx="2863207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algn="r">
              <a:defRPr>
                <a:solidFill>
                  <a:srgbClr val="FFFFFF">
                    <a:alpha val="32000"/>
                  </a:srgb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fld id="{C8E9B04D-C487-C946-B6BD-7B9D367595D2}" type="slidenum">
              <a:rPr lang="ru-RU" smtClean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649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2EEB0C-454D-5D31-01FF-C1241A798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5400"/>
            <a:ext cx="15773400" cy="427831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2D37427-D8FD-3C36-D5DA-DC8F1547D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581F44-99AE-1A9A-3665-418ACA4BD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A5AEA-1E91-D742-A462-5AFA8701875A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727FD4-DE98-CBFE-63C9-468331310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C8F969-A4AA-B96C-A1CA-70F5780CE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95D75-C039-4B46-A229-BE6DE92D4B19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image-1-1.jpeg" descr="image-1-1.jpeg">
            <a:extLst>
              <a:ext uri="{FF2B5EF4-FFF2-40B4-BE49-F238E27FC236}">
                <a16:creationId xmlns:a16="http://schemas.microsoft.com/office/drawing/2014/main" id="{64363748-4F52-C790-9139-58C316EEEC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175"/>
          </a:blip>
          <a:srcRect l="58789" r="1704"/>
          <a:stretch/>
        </p:blipFill>
        <p:spPr>
          <a:xfrm>
            <a:off x="0" y="0"/>
            <a:ext cx="18288000" cy="10287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3253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41EB20-7666-7822-0996-6F7F16257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C93670-8A88-94E9-24C4-4589C53457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810500" cy="652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00E784C-3FA1-7F23-4156-A0DB2E49F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20200" y="2738438"/>
            <a:ext cx="7810500" cy="652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AD93A85-3AA8-F1AB-89B8-1F096287F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A5AEA-1E91-D742-A462-5AFA8701875A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CEB2D61-7D5D-8016-2CC2-87D5E8E74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4E74C5A-ABE6-07EA-58F0-A9719F20A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95D75-C039-4B46-A229-BE6DE92D4B19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image-1-1.jpeg" descr="image-1-1.jpeg">
            <a:extLst>
              <a:ext uri="{FF2B5EF4-FFF2-40B4-BE49-F238E27FC236}">
                <a16:creationId xmlns:a16="http://schemas.microsoft.com/office/drawing/2014/main" id="{B45A74CE-AF4D-8B8E-D981-0BA54CD0D1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175"/>
          </a:blip>
          <a:srcRect l="58789" r="1704"/>
          <a:stretch/>
        </p:blipFill>
        <p:spPr>
          <a:xfrm>
            <a:off x="0" y="0"/>
            <a:ext cx="18288000" cy="10287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137765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247FF4-CE05-5AE3-45DA-DE487AC00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547688"/>
            <a:ext cx="15773400" cy="1989137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C6AA46F-FBBF-499D-0DEC-618EB12BE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1F80BC-836F-7DDF-5028-924C75F6F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60475" y="3757613"/>
            <a:ext cx="7735888" cy="55276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03BAC3D-106A-9EFC-6E8A-9233943148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0B50934-F207-7E82-B75E-4EB5F7E778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5575" cy="55276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9CD8B42-7FA8-94A1-C748-220A6F997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A5AEA-1E91-D742-A462-5AFA8701875A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DCA05BA-CD5B-8ACA-26E8-1AA73C8C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EEC4EBE-527F-808E-7B1E-0E55BBF27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95D75-C039-4B46-A229-BE6DE92D4B19}" type="slidenum">
              <a:rPr lang="ru-RU" smtClean="0"/>
              <a:t>‹#›</a:t>
            </a:fld>
            <a:endParaRPr lang="ru-RU"/>
          </a:p>
        </p:txBody>
      </p:sp>
      <p:pic>
        <p:nvPicPr>
          <p:cNvPr id="10" name="image-1-1.jpeg" descr="image-1-1.jpeg">
            <a:extLst>
              <a:ext uri="{FF2B5EF4-FFF2-40B4-BE49-F238E27FC236}">
                <a16:creationId xmlns:a16="http://schemas.microsoft.com/office/drawing/2014/main" id="{AF780B1C-9A3B-418A-9D7C-854F26E66B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175"/>
          </a:blip>
          <a:srcRect l="58789" r="1704"/>
          <a:stretch/>
        </p:blipFill>
        <p:spPr>
          <a:xfrm>
            <a:off x="0" y="0"/>
            <a:ext cx="18288000" cy="10287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62718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5DE15E-DC3F-D1C1-2435-D6AA29BFE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8CDB417-DE75-11FB-DEEF-9E9181B57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A5AEA-1E91-D742-A462-5AFA8701875A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738C2D2-EA40-0D20-8957-818D6BBA6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1CE3EF3-41AB-6AF6-32C9-8E41AD64A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95D75-C039-4B46-A229-BE6DE92D4B19}" type="slidenum">
              <a:rPr lang="ru-RU" smtClean="0"/>
              <a:t>‹#›</a:t>
            </a:fld>
            <a:endParaRPr lang="ru-RU"/>
          </a:p>
        </p:txBody>
      </p:sp>
      <p:pic>
        <p:nvPicPr>
          <p:cNvPr id="6" name="image-1-1.jpeg" descr="image-1-1.jpeg">
            <a:extLst>
              <a:ext uri="{FF2B5EF4-FFF2-40B4-BE49-F238E27FC236}">
                <a16:creationId xmlns:a16="http://schemas.microsoft.com/office/drawing/2014/main" id="{3CBEC495-A143-1CD3-8F1E-248ABF9A78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175"/>
          </a:blip>
          <a:srcRect l="58789" r="1704"/>
          <a:stretch/>
        </p:blipFill>
        <p:spPr>
          <a:xfrm>
            <a:off x="0" y="0"/>
            <a:ext cx="18288000" cy="10287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418321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4A7EA0A-8FF5-5405-61F0-030F0599A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A5AEA-1E91-D742-A462-5AFA8701875A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0A68E6D-B29C-6DE9-DBF4-2CC51C470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A018213-4ADB-68E0-AA0F-B9D7A5A94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95D75-C039-4B46-A229-BE6DE92D4B19}" type="slidenum">
              <a:rPr lang="ru-RU" smtClean="0"/>
              <a:t>‹#›</a:t>
            </a:fld>
            <a:endParaRPr lang="ru-RU"/>
          </a:p>
        </p:txBody>
      </p:sp>
      <p:pic>
        <p:nvPicPr>
          <p:cNvPr id="5" name="image-1-1.jpeg" descr="image-1-1.jpeg">
            <a:extLst>
              <a:ext uri="{FF2B5EF4-FFF2-40B4-BE49-F238E27FC236}">
                <a16:creationId xmlns:a16="http://schemas.microsoft.com/office/drawing/2014/main" id="{128CD0BB-E721-1484-6465-AAD4F7DF63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175"/>
          </a:blip>
          <a:srcRect l="58789" r="1704"/>
          <a:stretch/>
        </p:blipFill>
        <p:spPr>
          <a:xfrm>
            <a:off x="0" y="0"/>
            <a:ext cx="18288000" cy="10287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54036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256B23-B0C3-7DC0-1CCE-B8410E63B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32E673-E60B-65DC-4E8D-F1E3480BC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228BFBA-54E9-599D-6591-0D23DE532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2331B3-F1E4-B7C3-0395-03B07D428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A5AEA-1E91-D742-A462-5AFA8701875A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07CFC8C-24B7-D228-B0A4-3C1FABC41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A2B4777-5BE1-E8E5-6239-CA37AD35A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95D75-C039-4B46-A229-BE6DE92D4B19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image-1-1.jpeg" descr="image-1-1.jpeg">
            <a:extLst>
              <a:ext uri="{FF2B5EF4-FFF2-40B4-BE49-F238E27FC236}">
                <a16:creationId xmlns:a16="http://schemas.microsoft.com/office/drawing/2014/main" id="{532F03CB-A94C-168F-5BE2-CCF43BDA8C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175"/>
          </a:blip>
          <a:srcRect l="58789" r="1704"/>
          <a:stretch/>
        </p:blipFill>
        <p:spPr>
          <a:xfrm>
            <a:off x="0" y="0"/>
            <a:ext cx="18288000" cy="10287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9382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1F623F-47D3-AE14-0CE9-D8E69E23B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64A73B4-FCF1-F7B6-5C03-42FD4FB498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EB4078-AC82-1DC8-1DDD-10311BD7B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B0772F-7397-1583-312F-3605954FA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A5AEA-1E91-D742-A462-5AFA8701875A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FD77F1C-42DC-4553-5DEF-2EDF9A715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6A46279-137B-BB3B-2021-D38312059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95D75-C039-4B46-A229-BE6DE92D4B19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image-1-1.jpeg" descr="image-1-1.jpeg">
            <a:extLst>
              <a:ext uri="{FF2B5EF4-FFF2-40B4-BE49-F238E27FC236}">
                <a16:creationId xmlns:a16="http://schemas.microsoft.com/office/drawing/2014/main" id="{542E335F-01B1-4484-C24F-573BDB94C7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175"/>
          </a:blip>
          <a:srcRect l="58789" r="1704"/>
          <a:stretch/>
        </p:blipFill>
        <p:spPr>
          <a:xfrm>
            <a:off x="0" y="0"/>
            <a:ext cx="18288000" cy="10287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6248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062371-0E5C-EFA2-4D78-B7216C0E0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F9C548-F077-F8AD-0F7C-C63F53B569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848223-830D-30C6-4F2A-D49DCECE9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A5AEA-1E91-D742-A462-5AFA8701875A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BDB72B-94DB-E492-70A3-C6D199FAA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01E57C-C68C-AE29-85A8-95968C260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95D75-C039-4B46-A229-BE6DE92D4B19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image-1-1.jpeg" descr="image-1-1.jpeg">
            <a:extLst>
              <a:ext uri="{FF2B5EF4-FFF2-40B4-BE49-F238E27FC236}">
                <a16:creationId xmlns:a16="http://schemas.microsoft.com/office/drawing/2014/main" id="{9F5FA947-C5DE-22E6-03AB-A640853E16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175"/>
          </a:blip>
          <a:srcRect l="58789" r="1704"/>
          <a:stretch/>
        </p:blipFill>
        <p:spPr>
          <a:xfrm>
            <a:off x="0" y="0"/>
            <a:ext cx="18288000" cy="10287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85291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072213D-36A6-83B4-4C98-CA948ADEDD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B9787AA-17A5-01BC-0A09-CB57AAF995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32CE5A-E820-A819-1C2B-A6E5297E7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A5AEA-1E91-D742-A462-5AFA8701875A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821D1B-AD65-1555-3E1B-D3119354D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FE0581-3135-211F-01E0-59D6EE6A1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95D75-C039-4B46-A229-BE6DE92D4B19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image-1-1.jpeg" descr="image-1-1.jpeg">
            <a:extLst>
              <a:ext uri="{FF2B5EF4-FFF2-40B4-BE49-F238E27FC236}">
                <a16:creationId xmlns:a16="http://schemas.microsoft.com/office/drawing/2014/main" id="{F546A22B-F45E-5718-4747-DFAD8ADAB1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175"/>
          </a:blip>
          <a:srcRect l="58789" r="1704"/>
          <a:stretch/>
        </p:blipFill>
        <p:spPr>
          <a:xfrm>
            <a:off x="0" y="0"/>
            <a:ext cx="18288000" cy="10287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040642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Текст заголовка</a:t>
            </a:r>
          </a:p>
        </p:txBody>
      </p:sp>
      <p:sp>
        <p:nvSpPr>
          <p:cNvPr id="3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839200" y="9260681"/>
            <a:ext cx="4267200" cy="547688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BB9C71-BA47-5478-CEC1-2DBD59EA2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1770B92-BDAF-4660-0191-B9DD29D27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BDA9B0-FA54-6375-94F0-BF43B5F862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A5AEA-1E91-D742-A462-5AFA8701875A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33DB42-A2B1-0841-FCB4-24B1BEE30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224941-4975-4859-564C-D33DF0342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395D75-C039-4B46-A229-BE6DE92D4B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681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thropic.com/research/contextual-retrieva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catonmoon/rag-leaderboard/blob/master/utils/md_to_qa.py" TargetMode="External"/><Relationship Id="rId4" Type="http://schemas.openxmlformats.org/officeDocument/2006/relationships/hyperlink" Target="https://github.com/RussianNLP/DRAGON/tree/main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612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0" y="533400"/>
            <a:ext cx="6861424" cy="914400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Text 2"/>
          <p:cNvSpPr txBox="1"/>
          <p:nvPr/>
        </p:nvSpPr>
        <p:spPr>
          <a:xfrm>
            <a:off x="977900" y="5408629"/>
            <a:ext cx="10604500" cy="22672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anchor="b">
            <a:spAutoFit/>
          </a:bodyPr>
          <a:lstStyle/>
          <a:p>
            <a:pPr>
              <a:defRPr sz="8200" b="1" spc="-3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 lang="en-US" sz="7200" dirty="0"/>
              <a:t>O</a:t>
            </a:r>
            <a:r>
              <a:rPr sz="7200" dirty="0"/>
              <a:t>pen source Agentic </a:t>
            </a:r>
            <a:r>
              <a:rPr sz="7200" dirty="0">
                <a:solidFill>
                  <a:srgbClr val="4AD9FF"/>
                </a:solidFill>
              </a:rPr>
              <a:t>RAG</a:t>
            </a:r>
            <a:r>
              <a:rPr sz="7200" dirty="0"/>
              <a:t>,</a:t>
            </a:r>
            <a:r>
              <a:rPr lang="en-US" sz="7200" dirty="0"/>
              <a:t> </a:t>
            </a:r>
            <a:r>
              <a:rPr lang="ru-RU" sz="7200" dirty="0"/>
              <a:t>з</a:t>
            </a:r>
            <a:r>
              <a:rPr sz="7200" dirty="0" err="1"/>
              <a:t>акал</a:t>
            </a:r>
            <a:r>
              <a:rPr lang="ru-RU" sz="7200" dirty="0"/>
              <a:t>ё</a:t>
            </a:r>
            <a:r>
              <a:rPr sz="7200" dirty="0" err="1"/>
              <a:t>нный</a:t>
            </a:r>
            <a:r>
              <a:rPr sz="7200" dirty="0"/>
              <a:t> </a:t>
            </a:r>
            <a:r>
              <a:rPr sz="7200" dirty="0" err="1"/>
              <a:t>в</a:t>
            </a:r>
            <a:r>
              <a:rPr sz="7200" dirty="0"/>
              <a:t> </a:t>
            </a:r>
            <a:r>
              <a:rPr sz="7200" dirty="0" err="1"/>
              <a:t>бою</a:t>
            </a:r>
            <a:endParaRPr sz="7200" dirty="0"/>
          </a:p>
        </p:txBody>
      </p:sp>
      <p:sp>
        <p:nvSpPr>
          <p:cNvPr id="26" name="Text 3"/>
          <p:cNvSpPr txBox="1"/>
          <p:nvPr/>
        </p:nvSpPr>
        <p:spPr>
          <a:xfrm>
            <a:off x="9994271" y="8585117"/>
            <a:ext cx="7869537" cy="913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>
            <a:spAutoFit/>
          </a:bodyPr>
          <a:lstStyle>
            <a:lvl1pPr defTabSz="877823">
              <a:defRPr sz="2112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sz="2800" dirty="0" err="1">
                <a:solidFill>
                  <a:srgbClr val="4AD9FF"/>
                </a:solidFill>
              </a:rPr>
              <a:t>Иван</a:t>
            </a:r>
            <a:r>
              <a:rPr sz="2800" dirty="0">
                <a:solidFill>
                  <a:srgbClr val="4AD9FF"/>
                </a:solidFill>
              </a:rPr>
              <a:t> </a:t>
            </a:r>
            <a:r>
              <a:rPr sz="2800" dirty="0" err="1">
                <a:solidFill>
                  <a:srgbClr val="4AD9FF"/>
                </a:solidFill>
              </a:rPr>
              <a:t>Комаров</a:t>
            </a:r>
            <a:r>
              <a:rPr lang="ru-RU" sz="2800" dirty="0"/>
              <a:t>, </a:t>
            </a:r>
            <a:r>
              <a:rPr lang="en-US" sz="2800" dirty="0"/>
              <a:t>Head</a:t>
            </a:r>
            <a:r>
              <a:rPr lang="ru-RU" sz="2800" dirty="0"/>
              <a:t>, </a:t>
            </a:r>
            <a:r>
              <a:rPr lang="en-US" sz="2800" dirty="0"/>
              <a:t>ML </a:t>
            </a:r>
            <a:r>
              <a:rPr lang="en-US" sz="2800" dirty="0" err="1"/>
              <a:t>koronatech</a:t>
            </a:r>
            <a:endParaRPr lang="ru-RU" sz="2800" dirty="0"/>
          </a:p>
          <a:p>
            <a:r>
              <a:rPr lang="ru-RU" sz="2800" dirty="0">
                <a:solidFill>
                  <a:srgbClr val="4AD9FF"/>
                </a:solidFill>
              </a:rPr>
              <a:t>Евгений </a:t>
            </a:r>
            <a:r>
              <a:rPr lang="ru-RU" sz="2800" dirty="0" err="1">
                <a:solidFill>
                  <a:srgbClr val="4AD9FF"/>
                </a:solidFill>
              </a:rPr>
              <a:t>Чуканов</a:t>
            </a:r>
            <a:r>
              <a:rPr lang="ru-RU" sz="2800" dirty="0"/>
              <a:t>, </a:t>
            </a:r>
            <a:r>
              <a:rPr lang="en-US" sz="2800" dirty="0"/>
              <a:t>Head Dev, ML </a:t>
            </a:r>
            <a:r>
              <a:rPr lang="en-US" sz="2800" dirty="0" err="1"/>
              <a:t>koronatech</a:t>
            </a:r>
            <a:endParaRPr sz="2800" dirty="0"/>
          </a:p>
        </p:txBody>
      </p:sp>
      <p:sp>
        <p:nvSpPr>
          <p:cNvPr id="29" name="Text 7"/>
          <p:cNvSpPr txBox="1"/>
          <p:nvPr/>
        </p:nvSpPr>
        <p:spPr>
          <a:xfrm>
            <a:off x="15085700" y="350663"/>
            <a:ext cx="2778108" cy="414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50391">
              <a:defRPr sz="2046">
                <a:solidFill>
                  <a:srgbClr val="FFFFFF">
                    <a:alpha val="62000"/>
                  </a:srgb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err="1"/>
              <a:t>Секция</a:t>
            </a:r>
            <a:r>
              <a:t> «Agentic LLM»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612">
            <a:alpha val="7996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Image 0" descr="Image 0"/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952818" y="492918"/>
            <a:ext cx="2001218" cy="266701"/>
          </a:xfrm>
          <a:prstGeom prst="rect">
            <a:avLst/>
          </a:prstGeom>
          <a:ln w="12700">
            <a:miter lim="400000"/>
          </a:ln>
        </p:spPr>
      </p:pic>
      <p:sp>
        <p:nvSpPr>
          <p:cNvPr id="60" name="Text 5"/>
          <p:cNvSpPr txBox="1"/>
          <p:nvPr/>
        </p:nvSpPr>
        <p:spPr>
          <a:xfrm>
            <a:off x="952818" y="1581149"/>
            <a:ext cx="15175321" cy="171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Autofit/>
          </a:bodyPr>
          <a:lstStyle/>
          <a:p>
            <a:pPr defTabSz="749808">
              <a:defRPr sz="5412" b="1" spc="-164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 lang="ru-RU" sz="6000" dirty="0">
                <a:latin typeface="Calibri" panose="020F0502020204030204" pitchFamily="34" charset="0"/>
                <a:cs typeface="Calibri" panose="020F0502020204030204" pitchFamily="34" charset="0"/>
              </a:rPr>
              <a:t>А о</a:t>
            </a:r>
            <a:r>
              <a:rPr sz="6000" dirty="0" err="1">
                <a:latin typeface="Calibri" panose="020F0502020204030204" pitchFamily="34" charset="0"/>
                <a:cs typeface="Calibri" panose="020F0502020204030204" pitchFamily="34" charset="0"/>
              </a:rPr>
              <a:t>ни</a:t>
            </a:r>
            <a:r>
              <a:rPr sz="6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6000" dirty="0" err="1">
                <a:latin typeface="Calibri" panose="020F0502020204030204" pitchFamily="34" charset="0"/>
                <a:cs typeface="Calibri" panose="020F0502020204030204" pitchFamily="34" charset="0"/>
              </a:rPr>
              <a:t>говорят</a:t>
            </a:r>
            <a:r>
              <a:rPr sz="60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sz="6000" dirty="0" err="1">
                <a:latin typeface="Calibri" panose="020F0502020204030204" pitchFamily="34" charset="0"/>
                <a:cs typeface="Calibri" panose="020F0502020204030204" pitchFamily="34" charset="0"/>
              </a:rPr>
              <a:t>у</a:t>
            </a:r>
            <a:r>
              <a:rPr sz="6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6000" dirty="0" err="1">
                <a:latin typeface="Calibri" panose="020F0502020204030204" pitchFamily="34" charset="0"/>
                <a:cs typeface="Calibri" panose="020F0502020204030204" pitchFamily="34" charset="0"/>
              </a:rPr>
              <a:t>них</a:t>
            </a:r>
            <a:r>
              <a:rPr sz="6000" dirty="0">
                <a:latin typeface="Calibri" panose="020F0502020204030204" pitchFamily="34" charset="0"/>
                <a:cs typeface="Calibri" panose="020F0502020204030204" pitchFamily="34" charset="0"/>
              </a:rPr>
              <a:t> RAG </a:t>
            </a:r>
            <a:r>
              <a:rPr sz="6000" dirty="0" err="1">
                <a:latin typeface="Calibri" panose="020F0502020204030204" pitchFamily="34" charset="0"/>
                <a:cs typeface="Calibri" panose="020F0502020204030204" pitchFamily="34" charset="0"/>
              </a:rPr>
              <a:t>работает</a:t>
            </a:r>
            <a:r>
              <a:rPr sz="6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sz="6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sz="6000" dirty="0" err="1">
                <a:latin typeface="Calibri" panose="020F0502020204030204" pitchFamily="34" charset="0"/>
                <a:cs typeface="Calibri" panose="020F0502020204030204" pitchFamily="34" charset="0"/>
              </a:rPr>
              <a:t>Но</a:t>
            </a:r>
            <a:r>
              <a:rPr sz="6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6000" dirty="0" err="1">
                <a:latin typeface="Calibri" panose="020F0502020204030204" pitchFamily="34" charset="0"/>
                <a:cs typeface="Calibri" panose="020F0502020204030204" pitchFamily="34" charset="0"/>
              </a:rPr>
              <a:t>как</a:t>
            </a:r>
            <a:r>
              <a:rPr sz="6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6000" dirty="0" err="1">
                <a:latin typeface="Calibri" panose="020F0502020204030204" pitchFamily="34" charset="0"/>
                <a:cs typeface="Calibri" panose="020F0502020204030204" pitchFamily="34" charset="0"/>
              </a:rPr>
              <a:t>это</a:t>
            </a:r>
            <a:r>
              <a:rPr sz="6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6000" dirty="0" err="1">
                <a:solidFill>
                  <a:srgbClr val="4AD9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проверить</a:t>
            </a:r>
            <a:r>
              <a:rPr sz="60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185E00-8954-1417-E032-3099A8C427C0}"/>
              </a:ext>
            </a:extLst>
          </p:cNvPr>
          <p:cNvSpPr txBox="1"/>
          <p:nvPr/>
        </p:nvSpPr>
        <p:spPr>
          <a:xfrm>
            <a:off x="830989" y="4404836"/>
            <a:ext cx="16142561" cy="4161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4AD9FF"/>
              </a:buClr>
              <a:buSzPct val="120000"/>
              <a:buFont typeface="Arial" panose="020B0604020202020204" pitchFamily="34" charset="0"/>
              <a:buChar char="•"/>
            </a:pPr>
            <a:r>
              <a:rPr lang="ru-RU" sz="3600" dirty="0">
                <a:solidFill>
                  <a:schemeClr val="bg1"/>
                </a:solidFill>
              </a:rPr>
              <a:t>Нет стандартных бенчмарков </a:t>
            </a:r>
            <a:r>
              <a:rPr lang="es-419" sz="3600" dirty="0">
                <a:solidFill>
                  <a:schemeClr val="bg1"/>
                </a:solidFill>
              </a:rPr>
              <a:t>RAG</a:t>
            </a:r>
            <a:endParaRPr lang="ru-RU" sz="3600" dirty="0">
              <a:solidFill>
                <a:schemeClr val="bg1"/>
              </a:solidFill>
            </a:endParaRPr>
          </a:p>
          <a:p>
            <a:pPr marL="457200" indent="-457200">
              <a:lnSpc>
                <a:spcPct val="150000"/>
              </a:lnSpc>
              <a:buClr>
                <a:srgbClr val="4AD9FF"/>
              </a:buClr>
              <a:buSzPct val="120000"/>
              <a:buFont typeface="Arial" panose="020B0604020202020204" pitchFamily="34" charset="0"/>
              <a:buChar char="•"/>
            </a:pPr>
            <a:r>
              <a:rPr lang="ru-RU" sz="3600" dirty="0">
                <a:solidFill>
                  <a:schemeClr val="bg1"/>
                </a:solidFill>
              </a:rPr>
              <a:t>Синтетические бенчмарки не отражают реальность</a:t>
            </a:r>
          </a:p>
          <a:p>
            <a:pPr marL="457200" indent="-457200">
              <a:lnSpc>
                <a:spcPct val="150000"/>
              </a:lnSpc>
              <a:buClr>
                <a:srgbClr val="4AD9FF"/>
              </a:buClr>
              <a:buSzPct val="120000"/>
              <a:buFont typeface="Arial" panose="020B0604020202020204" pitchFamily="34" charset="0"/>
              <a:buChar char="•"/>
            </a:pPr>
            <a:r>
              <a:rPr lang="ru-RU" sz="3600" dirty="0">
                <a:solidFill>
                  <a:schemeClr val="bg1"/>
                </a:solidFill>
              </a:rPr>
              <a:t>Мы проверили свой </a:t>
            </a:r>
            <a:r>
              <a:rPr lang="es-419" sz="3600" dirty="0">
                <a:solidFill>
                  <a:schemeClr val="bg1"/>
                </a:solidFill>
              </a:rPr>
              <a:t>RAG </a:t>
            </a:r>
            <a:r>
              <a:rPr lang="ru-RU" sz="3600" dirty="0">
                <a:solidFill>
                  <a:schemeClr val="bg1"/>
                </a:solidFill>
              </a:rPr>
              <a:t>на международном соревновании</a:t>
            </a:r>
          </a:p>
          <a:p>
            <a:pPr marL="457200" indent="-457200">
              <a:lnSpc>
                <a:spcPct val="150000"/>
              </a:lnSpc>
              <a:buClr>
                <a:srgbClr val="4AD9FF"/>
              </a:buClr>
              <a:buSzPct val="120000"/>
              <a:buFont typeface="Arial" panose="020B0604020202020204" pitchFamily="34" charset="0"/>
              <a:buChar char="•"/>
            </a:pPr>
            <a:r>
              <a:rPr lang="es-419" sz="3600" dirty="0">
                <a:solidFill>
                  <a:schemeClr val="bg1"/>
                </a:solidFill>
              </a:rPr>
              <a:t>Agentic RAG Legal Challenge, 350+ </a:t>
            </a:r>
            <a:r>
              <a:rPr lang="ru-RU" sz="3600" dirty="0">
                <a:solidFill>
                  <a:schemeClr val="bg1"/>
                </a:solidFill>
              </a:rPr>
              <a:t>команд со всего мира</a:t>
            </a:r>
          </a:p>
          <a:p>
            <a:pPr marL="457200" indent="-457200">
              <a:lnSpc>
                <a:spcPct val="150000"/>
              </a:lnSpc>
              <a:buClr>
                <a:srgbClr val="4AD9FF"/>
              </a:buClr>
              <a:buSzPct val="120000"/>
              <a:buFont typeface="Arial" panose="020B0604020202020204" pitchFamily="34" charset="0"/>
              <a:buChar char="•"/>
            </a:pPr>
            <a:r>
              <a:rPr lang="ru-RU" sz="3600" dirty="0">
                <a:solidFill>
                  <a:srgbClr val="4AD9FF"/>
                </a:solidFill>
              </a:rPr>
              <a:t>14 место</a:t>
            </a:r>
            <a:r>
              <a:rPr lang="ru-RU" sz="3600" dirty="0">
                <a:solidFill>
                  <a:schemeClr val="bg1"/>
                </a:solidFill>
              </a:rPr>
              <a:t> из 350 в финале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612">
            <a:alpha val="796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Image 0" descr="Image 0"/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952818" y="492918"/>
            <a:ext cx="2001218" cy="266701"/>
          </a:xfrm>
          <a:prstGeom prst="rect">
            <a:avLst/>
          </a:prstGeom>
          <a:ln w="12700">
            <a:miter lim="400000"/>
          </a:ln>
        </p:spPr>
      </p:pic>
      <p:sp>
        <p:nvSpPr>
          <p:cNvPr id="60" name="Text 5"/>
          <p:cNvSpPr txBox="1"/>
          <p:nvPr/>
        </p:nvSpPr>
        <p:spPr>
          <a:xfrm>
            <a:off x="952818" y="1605079"/>
            <a:ext cx="16626022" cy="171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 lnSpcReduction="10000"/>
          </a:bodyPr>
          <a:lstStyle/>
          <a:p>
            <a:pPr defTabSz="749808">
              <a:defRPr sz="5412" b="1" spc="-164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 lang="es-419" sz="6000" dirty="0">
                <a:latin typeface="Calibri" panose="020F0502020204030204" pitchFamily="34" charset="0"/>
                <a:cs typeface="Calibri" panose="020F0502020204030204" pitchFamily="34" charset="0"/>
              </a:rPr>
              <a:t>MORAG — open-source RAG </a:t>
            </a:r>
            <a:r>
              <a:rPr lang="ru-RU" sz="6000" dirty="0">
                <a:latin typeface="Calibri" panose="020F0502020204030204" pitchFamily="34" charset="0"/>
                <a:cs typeface="Calibri" panose="020F0502020204030204" pitchFamily="34" charset="0"/>
              </a:rPr>
              <a:t>для </a:t>
            </a:r>
            <a:r>
              <a:rPr lang="ru-RU" sz="6000" spc="-164" dirty="0">
                <a:solidFill>
                  <a:srgbClr val="4AD9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корпоративных</a:t>
            </a:r>
            <a:r>
              <a:rPr lang="ru-RU" sz="6000" dirty="0">
                <a:latin typeface="Calibri" panose="020F0502020204030204" pitchFamily="34" charset="0"/>
                <a:cs typeface="Calibri" panose="020F0502020204030204" pitchFamily="34" charset="0"/>
              </a:rPr>
              <a:t> баз знаний</a:t>
            </a:r>
          </a:p>
          <a:p>
            <a:pPr defTabSz="749808">
              <a:defRPr sz="5412" b="1" spc="-164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pPr>
            <a:endParaRPr lang="ru-RU" dirty="0"/>
          </a:p>
        </p:txBody>
      </p:sp>
      <p:sp>
        <p:nvSpPr>
          <p:cNvPr id="72" name="Text 14"/>
          <p:cNvSpPr txBox="1"/>
          <p:nvPr/>
        </p:nvSpPr>
        <p:spPr>
          <a:xfrm>
            <a:off x="952818" y="4442373"/>
            <a:ext cx="16320770" cy="4069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defTabSz="850391">
              <a:lnSpc>
                <a:spcPct val="130000"/>
              </a:lnSpc>
              <a:defRPr sz="2511" b="1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 marL="457200" indent="-457200">
              <a:lnSpc>
                <a:spcPct val="150000"/>
              </a:lnSpc>
              <a:buClr>
                <a:srgbClr val="4AD9FF"/>
              </a:buClr>
              <a:buSzPct val="120000"/>
              <a:buFont typeface="Arial" panose="020B0604020202020204" pitchFamily="34" charset="0"/>
              <a:buChar char="•"/>
            </a:pPr>
            <a:r>
              <a:rPr lang="es-419" sz="3600" dirty="0">
                <a:solidFill>
                  <a:srgbClr val="4AD9FF"/>
                </a:solidFill>
              </a:rPr>
              <a:t>Open source </a:t>
            </a:r>
            <a:r>
              <a:rPr lang="ru-RU" sz="3600" dirty="0"/>
              <a:t>-</a:t>
            </a:r>
            <a:r>
              <a:rPr lang="es-419" sz="3600" dirty="0"/>
              <a:t> github.com/catonmoon/morag</a:t>
            </a:r>
          </a:p>
          <a:p>
            <a:pPr marL="457200" indent="-457200">
              <a:lnSpc>
                <a:spcPct val="150000"/>
              </a:lnSpc>
              <a:buClr>
                <a:srgbClr val="4AD9FF"/>
              </a:buClr>
              <a:buSzPct val="120000"/>
              <a:buFont typeface="Arial" panose="020B0604020202020204" pitchFamily="34" charset="0"/>
              <a:buChar char="•"/>
            </a:pPr>
            <a:r>
              <a:rPr lang="es-419" sz="3600" dirty="0"/>
              <a:t>Qwen 3.5 </a:t>
            </a:r>
            <a:r>
              <a:rPr lang="ru-RU" sz="3600" dirty="0"/>
              <a:t>или </a:t>
            </a:r>
            <a:r>
              <a:rPr lang="es-419" sz="3600" dirty="0"/>
              <a:t>OpenAI-</a:t>
            </a:r>
            <a:r>
              <a:rPr lang="ru-RU" sz="3600" dirty="0"/>
              <a:t>совместимая модель</a:t>
            </a:r>
          </a:p>
          <a:p>
            <a:pPr marL="457200" indent="-457200">
              <a:lnSpc>
                <a:spcPct val="150000"/>
              </a:lnSpc>
              <a:buClr>
                <a:srgbClr val="4AD9FF"/>
              </a:buClr>
              <a:buSzPct val="120000"/>
              <a:buFont typeface="Arial" panose="020B0604020202020204" pitchFamily="34" charset="0"/>
              <a:buChar char="•"/>
            </a:pPr>
            <a:r>
              <a:rPr lang="ru-RU" sz="3600" dirty="0"/>
              <a:t>Чат-интерфейс - </a:t>
            </a:r>
            <a:r>
              <a:rPr lang="es-419" sz="3600" dirty="0"/>
              <a:t>Open WebUI</a:t>
            </a:r>
            <a:endParaRPr lang="ru-RU" sz="3600" dirty="0"/>
          </a:p>
          <a:p>
            <a:pPr marL="457200" indent="-457200">
              <a:lnSpc>
                <a:spcPct val="150000"/>
              </a:lnSpc>
              <a:buClr>
                <a:srgbClr val="4AD9FF"/>
              </a:buClr>
              <a:buSzPct val="120000"/>
              <a:buFont typeface="Arial" panose="020B0604020202020204" pitchFamily="34" charset="0"/>
              <a:buChar char="•"/>
            </a:pPr>
            <a:r>
              <a:rPr lang="es-419" sz="3600" dirty="0"/>
              <a:t>Docker </a:t>
            </a:r>
            <a:r>
              <a:rPr lang="ru-RU" sz="3600" dirty="0"/>
              <a:t>- разворачивается за минуты</a:t>
            </a:r>
          </a:p>
          <a:p>
            <a:pPr marL="457200" indent="-457200">
              <a:lnSpc>
                <a:spcPct val="150000"/>
              </a:lnSpc>
              <a:buClr>
                <a:srgbClr val="4AD9FF"/>
              </a:buClr>
              <a:buSzPct val="120000"/>
              <a:buFont typeface="Arial" panose="020B0604020202020204" pitchFamily="34" charset="0"/>
              <a:buChar char="•"/>
            </a:pPr>
            <a:r>
              <a:rPr lang="ru-RU" sz="3600" dirty="0"/>
              <a:t>Источники - </a:t>
            </a:r>
            <a:r>
              <a:rPr lang="es-419" sz="3600" dirty="0"/>
              <a:t>Markdown, Confluence, PDF, Jira</a:t>
            </a:r>
          </a:p>
        </p:txBody>
      </p:sp>
    </p:spTree>
    <p:extLst>
      <p:ext uri="{BB962C8B-B14F-4D97-AF65-F5344CB8AC3E}">
        <p14:creationId xmlns:p14="http://schemas.microsoft.com/office/powerpoint/2010/main" val="959380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апись экрана 2026-04-03 в 22.00.32">
            <a:hlinkClick r:id="" action="ppaction://media"/>
            <a:extLst>
              <a:ext uri="{FF2B5EF4-FFF2-40B4-BE49-F238E27FC236}">
                <a16:creationId xmlns:a16="http://schemas.microsoft.com/office/drawing/2014/main" id="{DE34E3A5-A2EE-0C1A-1E27-79FD87D53BD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62012" y="0"/>
            <a:ext cx="16563975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9411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11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9613"/>
          </a:schemeClr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>
            <a:spLocks noGrp="1"/>
          </p:cNvSpPr>
          <p:nvPr>
            <p:ph type="title" idx="4294967295"/>
          </p:nvPr>
        </p:nvSpPr>
        <p:spPr>
          <a:xfrm>
            <a:off x="647700" y="1320800"/>
            <a:ext cx="13106400" cy="94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r>
              <a:rPr lang="ru-RU" sz="6000" b="1" dirty="0">
                <a:solidFill>
                  <a:srgbClr val="4AD9FF"/>
                </a:solidFill>
                <a:latin typeface="+mn-lt"/>
              </a:rPr>
              <a:t>Технические</a:t>
            </a:r>
            <a:r>
              <a:rPr lang="ru-RU" sz="6000" b="1" dirty="0">
                <a:solidFill>
                  <a:schemeClr val="bg1"/>
                </a:solidFill>
                <a:latin typeface="+mn-lt"/>
              </a:rPr>
              <a:t> фишки MORAG</a:t>
            </a:r>
            <a:endParaRPr sz="60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20" name="Google Shape;120;p6"/>
          <p:cNvSpPr txBox="1">
            <a:spLocks noGrp="1"/>
          </p:cNvSpPr>
          <p:nvPr>
            <p:ph type="body" idx="4294967295"/>
          </p:nvPr>
        </p:nvSpPr>
        <p:spPr>
          <a:xfrm>
            <a:off x="804636" y="2534557"/>
            <a:ext cx="15101888" cy="700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 fontScale="92500" lnSpcReduction="20000"/>
          </a:bodyPr>
          <a:lstStyle/>
          <a:p>
            <a:pPr marL="600075" indent="-428625">
              <a:lnSpc>
                <a:spcPct val="150000"/>
              </a:lnSpc>
              <a:buSzPct val="100000"/>
              <a:buFont typeface="Arial"/>
              <a:buChar char="•"/>
            </a:pPr>
            <a:r>
              <a:rPr lang="ru-RU" sz="3000" b="1" dirty="0">
                <a:solidFill>
                  <a:srgbClr val="4AD9FF"/>
                </a:solidFill>
              </a:rPr>
              <a:t>Hybrid </a:t>
            </a:r>
            <a:r>
              <a:rPr lang="ru-RU" sz="3000" b="1" dirty="0" err="1">
                <a:solidFill>
                  <a:srgbClr val="4AD9FF"/>
                </a:solidFill>
              </a:rPr>
              <a:t>Chunker</a:t>
            </a:r>
            <a:r>
              <a:rPr lang="ru-RU" sz="3000" dirty="0">
                <a:solidFill>
                  <a:schemeClr val="bg1"/>
                </a:solidFill>
              </a:rPr>
              <a:t>: нарезка по </a:t>
            </a:r>
            <a:r>
              <a:rPr lang="ru-RU" sz="3000" dirty="0" err="1">
                <a:solidFill>
                  <a:schemeClr val="bg1"/>
                </a:solidFill>
              </a:rPr>
              <a:t>CommonMark</a:t>
            </a:r>
            <a:r>
              <a:rPr lang="ru-RU" sz="3000" dirty="0">
                <a:solidFill>
                  <a:schemeClr val="bg1"/>
                </a:solidFill>
              </a:rPr>
              <a:t> AST (не по символам!). Каждый </a:t>
            </a:r>
            <a:r>
              <a:rPr lang="ru-RU" sz="3000" dirty="0" err="1">
                <a:solidFill>
                  <a:schemeClr val="bg1"/>
                </a:solidFill>
              </a:rPr>
              <a:t>чанк</a:t>
            </a:r>
            <a:r>
              <a:rPr lang="ru-RU" sz="3000" dirty="0">
                <a:solidFill>
                  <a:schemeClr val="bg1"/>
                </a:solidFill>
              </a:rPr>
              <a:t> — законченная мысль. Контроль размера в токенах</a:t>
            </a:r>
            <a:r>
              <a:rPr lang="en-US" sz="3000" dirty="0">
                <a:solidFill>
                  <a:schemeClr val="bg1"/>
                </a:solidFill>
              </a:rPr>
              <a:t>.</a:t>
            </a:r>
            <a:r>
              <a:rPr lang="ru-RU" sz="3000" dirty="0">
                <a:solidFill>
                  <a:schemeClr val="bg1"/>
                </a:solidFill>
              </a:rPr>
              <a:t> </a:t>
            </a:r>
            <a:endParaRPr sz="3000" dirty="0">
              <a:solidFill>
                <a:schemeClr val="bg1"/>
              </a:solidFill>
            </a:endParaRPr>
          </a:p>
          <a:p>
            <a:pPr marL="600075" indent="-428625">
              <a:lnSpc>
                <a:spcPct val="150000"/>
              </a:lnSpc>
              <a:buSzPct val="100000"/>
              <a:buFont typeface="Arial"/>
              <a:buChar char="•"/>
            </a:pPr>
            <a:r>
              <a:rPr lang="ru-RU" sz="3000" b="1" dirty="0">
                <a:solidFill>
                  <a:srgbClr val="4AD9FF"/>
                </a:solidFill>
              </a:rPr>
              <a:t>LLM-контекст</a:t>
            </a:r>
            <a:r>
              <a:rPr lang="ru-RU" sz="3000" b="1" dirty="0">
                <a:solidFill>
                  <a:schemeClr val="bg1"/>
                </a:solidFill>
              </a:rPr>
              <a:t> </a:t>
            </a:r>
            <a:r>
              <a:rPr lang="ru-RU" sz="3000" dirty="0">
                <a:solidFill>
                  <a:schemeClr val="bg1"/>
                </a:solidFill>
              </a:rPr>
              <a:t>для каждого </a:t>
            </a:r>
            <a:r>
              <a:rPr lang="ru-RU" sz="3000" dirty="0" err="1">
                <a:solidFill>
                  <a:schemeClr val="bg1"/>
                </a:solidFill>
              </a:rPr>
              <a:t>чанка</a:t>
            </a:r>
            <a:r>
              <a:rPr lang="ru-RU" sz="3000" dirty="0">
                <a:solidFill>
                  <a:schemeClr val="bg1"/>
                </a:solidFill>
              </a:rPr>
              <a:t>: берём </a:t>
            </a:r>
            <a:r>
              <a:rPr lang="ru-RU" sz="3000" dirty="0" err="1">
                <a:solidFill>
                  <a:schemeClr val="bg1"/>
                </a:solidFill>
              </a:rPr>
              <a:t>чанк</a:t>
            </a:r>
            <a:r>
              <a:rPr lang="ru-RU" sz="3000" dirty="0">
                <a:solidFill>
                  <a:schemeClr val="bg1"/>
                </a:solidFill>
              </a:rPr>
              <a:t> + весь документ → LLM описывает окружение </a:t>
            </a:r>
            <a:r>
              <a:rPr lang="ru-RU" sz="3000" dirty="0" err="1">
                <a:solidFill>
                  <a:schemeClr val="bg1"/>
                </a:solidFill>
              </a:rPr>
              <a:t>чанка</a:t>
            </a:r>
            <a:r>
              <a:rPr lang="ru-RU" sz="3000" dirty="0">
                <a:solidFill>
                  <a:schemeClr val="bg1"/>
                </a:solidFill>
              </a:rPr>
              <a:t>. </a:t>
            </a:r>
            <a:r>
              <a:rPr lang="ru-RU" sz="3000" dirty="0" err="1">
                <a:solidFill>
                  <a:schemeClr val="bg1"/>
                </a:solidFill>
              </a:rPr>
              <a:t>Чанк</a:t>
            </a:r>
            <a:r>
              <a:rPr lang="ru-RU" sz="3000" dirty="0">
                <a:solidFill>
                  <a:schemeClr val="bg1"/>
                </a:solidFill>
              </a:rPr>
              <a:t> становится самодостаточным. </a:t>
            </a:r>
            <a:r>
              <a:rPr lang="es-419" sz="3000" u="sng" dirty="0">
                <a:solidFill>
                  <a:srgbClr val="4AD9FF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https://www.anthropic.com/research/contextual-retrieval</a:t>
            </a:r>
            <a:endParaRPr sz="3000" dirty="0">
              <a:solidFill>
                <a:srgbClr val="4AD9FF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600075" indent="-428625">
              <a:lnSpc>
                <a:spcPct val="150000"/>
              </a:lnSpc>
              <a:buSzPct val="100000"/>
              <a:buFont typeface="Arial"/>
              <a:buChar char="•"/>
            </a:pPr>
            <a:r>
              <a:rPr lang="ru-RU" sz="3000" b="1" dirty="0">
                <a:solidFill>
                  <a:srgbClr val="4AD9FF"/>
                </a:solidFill>
              </a:rPr>
              <a:t>Тройной</a:t>
            </a:r>
            <a:r>
              <a:rPr lang="ru-RU" sz="3000" b="1" dirty="0">
                <a:solidFill>
                  <a:schemeClr val="bg1"/>
                </a:solidFill>
              </a:rPr>
              <a:t> </a:t>
            </a:r>
            <a:r>
              <a:rPr lang="ru-RU" sz="3000" dirty="0">
                <a:solidFill>
                  <a:schemeClr val="bg1"/>
                </a:solidFill>
              </a:rPr>
              <a:t>гибридный поиск с RRF:</a:t>
            </a:r>
            <a:endParaRPr sz="3000" dirty="0">
              <a:solidFill>
                <a:schemeClr val="bg1"/>
              </a:solidFill>
            </a:endParaRPr>
          </a:p>
          <a:p>
            <a:pPr marL="1114425" lvl="2" indent="-428625">
              <a:lnSpc>
                <a:spcPct val="150000"/>
              </a:lnSpc>
              <a:buSzPct val="100000"/>
            </a:pPr>
            <a:r>
              <a:rPr lang="ru-RU" sz="3000" dirty="0" err="1">
                <a:solidFill>
                  <a:schemeClr val="bg1"/>
                </a:solidFill>
              </a:rPr>
              <a:t>Dense</a:t>
            </a:r>
            <a:r>
              <a:rPr lang="ru-RU" sz="3000" dirty="0">
                <a:solidFill>
                  <a:schemeClr val="bg1"/>
                </a:solidFill>
              </a:rPr>
              <a:t>: </a:t>
            </a:r>
            <a:r>
              <a:rPr lang="en-US" sz="3000" b="1" dirty="0">
                <a:solidFill>
                  <a:schemeClr val="bg1"/>
                </a:solidFill>
              </a:rPr>
              <a:t>QWEN</a:t>
            </a:r>
            <a:r>
              <a:rPr lang="ru-RU" sz="3000" dirty="0">
                <a:solidFill>
                  <a:schemeClr val="bg1"/>
                </a:solidFill>
              </a:rPr>
              <a:t> (русский/</a:t>
            </a:r>
            <a:r>
              <a:rPr lang="ru-RU" sz="3000" dirty="0" err="1">
                <a:solidFill>
                  <a:schemeClr val="bg1"/>
                </a:solidFill>
              </a:rPr>
              <a:t>англ</a:t>
            </a:r>
            <a:r>
              <a:rPr lang="ru-RU" sz="3000" dirty="0">
                <a:solidFill>
                  <a:schemeClr val="bg1"/>
                </a:solidFill>
              </a:rPr>
              <a:t>, с префиксом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es-419" sz="3000" dirty="0">
                <a:solidFill>
                  <a:schemeClr val="bg1"/>
                </a:solidFill>
              </a:rPr>
              <a:t>Instruct:{task_description}\nQuery:{query}</a:t>
            </a:r>
            <a:r>
              <a:rPr lang="ru-RU" sz="3000" dirty="0">
                <a:solidFill>
                  <a:schemeClr val="bg1"/>
                </a:solidFill>
              </a:rPr>
              <a:t>)</a:t>
            </a:r>
            <a:endParaRPr sz="3000" dirty="0">
              <a:solidFill>
                <a:schemeClr val="bg1"/>
              </a:solidFill>
            </a:endParaRPr>
          </a:p>
          <a:p>
            <a:pPr marL="1114425" lvl="2" indent="-428625">
              <a:lnSpc>
                <a:spcPct val="150000"/>
              </a:lnSpc>
              <a:buSzPct val="100000"/>
            </a:pPr>
            <a:r>
              <a:rPr lang="ru-RU" sz="3000" dirty="0" err="1">
                <a:solidFill>
                  <a:schemeClr val="bg1"/>
                </a:solidFill>
              </a:rPr>
              <a:t>Sparse</a:t>
            </a:r>
            <a:r>
              <a:rPr lang="ru-RU" sz="3000" dirty="0">
                <a:solidFill>
                  <a:schemeClr val="bg1"/>
                </a:solidFill>
              </a:rPr>
              <a:t>: </a:t>
            </a:r>
            <a:r>
              <a:rPr lang="ru-RU" sz="3000" b="1" dirty="0">
                <a:solidFill>
                  <a:schemeClr val="bg1"/>
                </a:solidFill>
              </a:rPr>
              <a:t>GTE</a:t>
            </a:r>
            <a:r>
              <a:rPr lang="ru-RU" sz="3000" dirty="0">
                <a:solidFill>
                  <a:schemeClr val="bg1"/>
                </a:solidFill>
              </a:rPr>
              <a:t> (</a:t>
            </a:r>
            <a:r>
              <a:rPr lang="ru-RU" sz="3000" dirty="0" err="1">
                <a:solidFill>
                  <a:schemeClr val="bg1"/>
                </a:solidFill>
              </a:rPr>
              <a:t>токенные</a:t>
            </a:r>
            <a:r>
              <a:rPr lang="ru-RU" sz="3000" dirty="0">
                <a:solidFill>
                  <a:schemeClr val="bg1"/>
                </a:solidFill>
              </a:rPr>
              <a:t> </a:t>
            </a:r>
            <a:r>
              <a:rPr lang="ru-RU" sz="3000" dirty="0" err="1">
                <a:solidFill>
                  <a:schemeClr val="bg1"/>
                </a:solidFill>
              </a:rPr>
              <a:t>sparse</a:t>
            </a:r>
            <a:r>
              <a:rPr lang="ru-RU" sz="3000" dirty="0">
                <a:solidFill>
                  <a:schemeClr val="bg1"/>
                </a:solidFill>
              </a:rPr>
              <a:t> </a:t>
            </a:r>
            <a:r>
              <a:rPr lang="ru-RU" sz="3000" dirty="0" err="1">
                <a:solidFill>
                  <a:schemeClr val="bg1"/>
                </a:solidFill>
              </a:rPr>
              <a:t>vectors</a:t>
            </a:r>
            <a:r>
              <a:rPr lang="ru-RU" sz="3000" dirty="0">
                <a:solidFill>
                  <a:schemeClr val="bg1"/>
                </a:solidFill>
              </a:rPr>
              <a:t>)</a:t>
            </a:r>
            <a:endParaRPr sz="3000" dirty="0">
              <a:solidFill>
                <a:schemeClr val="bg1"/>
              </a:solidFill>
            </a:endParaRPr>
          </a:p>
          <a:p>
            <a:pPr marL="1114425" lvl="2" indent="-428625">
              <a:lnSpc>
                <a:spcPct val="150000"/>
              </a:lnSpc>
              <a:buSzPct val="100000"/>
            </a:pPr>
            <a:r>
              <a:rPr lang="ru-RU" sz="3000" b="1" dirty="0">
                <a:solidFill>
                  <a:schemeClr val="bg1"/>
                </a:solidFill>
              </a:rPr>
              <a:t>BM25 </a:t>
            </a:r>
            <a:r>
              <a:rPr lang="ru-RU" sz="3000" dirty="0">
                <a:solidFill>
                  <a:schemeClr val="bg1"/>
                </a:solidFill>
              </a:rPr>
              <a:t>со </a:t>
            </a:r>
            <a:r>
              <a:rPr lang="ru-RU" sz="3000" dirty="0" err="1">
                <a:solidFill>
                  <a:schemeClr val="bg1"/>
                </a:solidFill>
              </a:rPr>
              <a:t>стеммингом</a:t>
            </a:r>
            <a:r>
              <a:rPr lang="ru-RU" sz="3000" dirty="0">
                <a:solidFill>
                  <a:schemeClr val="bg1"/>
                </a:solidFill>
              </a:rPr>
              <a:t> (</a:t>
            </a:r>
            <a:r>
              <a:rPr lang="ru-RU" sz="3000" dirty="0" err="1">
                <a:solidFill>
                  <a:schemeClr val="bg1"/>
                </a:solidFill>
              </a:rPr>
              <a:t>Snowball</a:t>
            </a:r>
            <a:r>
              <a:rPr lang="ru-RU" sz="3000" dirty="0">
                <a:solidFill>
                  <a:schemeClr val="bg1"/>
                </a:solidFill>
              </a:rPr>
              <a:t>, русский + английский)</a:t>
            </a:r>
            <a:endParaRPr sz="3000" dirty="0">
              <a:solidFill>
                <a:schemeClr val="bg1"/>
              </a:solidFill>
            </a:endParaRPr>
          </a:p>
          <a:p>
            <a:pPr marL="1114425" lvl="2" indent="-428625">
              <a:lnSpc>
                <a:spcPct val="150000"/>
              </a:lnSpc>
              <a:buSzPct val="100000"/>
            </a:pPr>
            <a:r>
              <a:rPr lang="ru-RU" sz="3000" dirty="0">
                <a:solidFill>
                  <a:schemeClr val="bg1"/>
                </a:solidFill>
              </a:rPr>
              <a:t>Объединение через </a:t>
            </a:r>
            <a:r>
              <a:rPr lang="ru-RU" sz="3000" dirty="0" err="1">
                <a:solidFill>
                  <a:schemeClr val="bg1"/>
                </a:solidFill>
              </a:rPr>
              <a:t>Reciprocal</a:t>
            </a:r>
            <a:r>
              <a:rPr lang="ru-RU" sz="3000" dirty="0">
                <a:solidFill>
                  <a:schemeClr val="bg1"/>
                </a:solidFill>
              </a:rPr>
              <a:t> </a:t>
            </a:r>
            <a:r>
              <a:rPr lang="ru-RU" sz="3000" dirty="0" err="1">
                <a:solidFill>
                  <a:schemeClr val="bg1"/>
                </a:solidFill>
              </a:rPr>
              <a:t>Rank</a:t>
            </a:r>
            <a:r>
              <a:rPr lang="ru-RU" sz="3000" dirty="0">
                <a:solidFill>
                  <a:schemeClr val="bg1"/>
                </a:solidFill>
              </a:rPr>
              <a:t> Fusion в </a:t>
            </a:r>
            <a:r>
              <a:rPr lang="ru-RU" sz="3000" dirty="0" err="1">
                <a:solidFill>
                  <a:schemeClr val="bg1"/>
                </a:solidFill>
              </a:rPr>
              <a:t>Qdrant</a:t>
            </a:r>
            <a:endParaRPr sz="3000" dirty="0">
              <a:solidFill>
                <a:schemeClr val="bg1"/>
              </a:solidFill>
            </a:endParaRPr>
          </a:p>
          <a:p>
            <a:pPr marL="600075" indent="-428625">
              <a:lnSpc>
                <a:spcPct val="150000"/>
              </a:lnSpc>
              <a:buSzPct val="100000"/>
              <a:buFont typeface="Arial"/>
              <a:buChar char="•"/>
            </a:pPr>
            <a:r>
              <a:rPr lang="ru-RU" sz="3000" b="1" dirty="0">
                <a:solidFill>
                  <a:srgbClr val="4AD9FF"/>
                </a:solidFill>
              </a:rPr>
              <a:t>LLM-</a:t>
            </a:r>
            <a:r>
              <a:rPr lang="ru-RU" sz="3000" b="1" dirty="0" err="1">
                <a:solidFill>
                  <a:srgbClr val="4AD9FF"/>
                </a:solidFill>
              </a:rPr>
              <a:t>реранкинг</a:t>
            </a:r>
            <a:r>
              <a:rPr lang="ru-RU" sz="3000" dirty="0">
                <a:solidFill>
                  <a:schemeClr val="bg1"/>
                </a:solidFill>
              </a:rPr>
              <a:t> — после поиска LLM отфильтровывает нерелевантные </a:t>
            </a:r>
            <a:r>
              <a:rPr lang="ru-RU" sz="3000" dirty="0" err="1">
                <a:solidFill>
                  <a:schemeClr val="bg1"/>
                </a:solidFill>
              </a:rPr>
              <a:t>чанки</a:t>
            </a:r>
            <a:endParaRPr sz="3000" dirty="0">
              <a:solidFill>
                <a:schemeClr val="bg1"/>
              </a:solidFill>
            </a:endParaRPr>
          </a:p>
          <a:p>
            <a:pPr marL="171450" indent="0">
              <a:lnSpc>
                <a:spcPct val="150000"/>
              </a:lnSpc>
              <a:buSzPct val="67568"/>
            </a:pPr>
            <a:endParaRPr sz="3000" dirty="0">
              <a:solidFill>
                <a:schemeClr val="bg1"/>
              </a:solidFill>
            </a:endParaRPr>
          </a:p>
          <a:p>
            <a:pPr marL="538163" indent="-347663">
              <a:lnSpc>
                <a:spcPct val="150000"/>
              </a:lnSpc>
              <a:spcBef>
                <a:spcPts val="900"/>
              </a:spcBef>
              <a:buClr>
                <a:srgbClr val="019CE3"/>
              </a:buClr>
              <a:buSzPct val="120120"/>
            </a:pPr>
            <a:endParaRPr sz="2700" b="1" u="sng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>
            <a:spLocks noGrp="1"/>
          </p:cNvSpPr>
          <p:nvPr>
            <p:ph type="body" idx="4294967295"/>
          </p:nvPr>
        </p:nvSpPr>
        <p:spPr>
          <a:xfrm>
            <a:off x="742950" y="2655888"/>
            <a:ext cx="12687300" cy="708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0" indent="0">
              <a:spcBef>
                <a:spcPts val="900"/>
              </a:spcBef>
              <a:buClr>
                <a:srgbClr val="019CE3"/>
              </a:buClr>
              <a:buSzPts val="4000"/>
              <a:buNone/>
            </a:pPr>
            <a:r>
              <a:rPr lang="ru-RU" b="1" dirty="0" err="1">
                <a:solidFill>
                  <a:srgbClr val="4AD9FF"/>
                </a:solidFill>
              </a:rPr>
              <a:t>Knowledge</a:t>
            </a:r>
            <a:r>
              <a:rPr lang="ru-RU" b="1" dirty="0">
                <a:solidFill>
                  <a:srgbClr val="4AD9FF"/>
                </a:solidFill>
              </a:rPr>
              <a:t> </a:t>
            </a:r>
            <a:r>
              <a:rPr lang="ru-RU" b="1" dirty="0" err="1">
                <a:solidFill>
                  <a:srgbClr val="4AD9FF"/>
                </a:solidFill>
              </a:rPr>
              <a:t>Map</a:t>
            </a:r>
            <a:r>
              <a:rPr lang="ru-RU" b="1" dirty="0">
                <a:solidFill>
                  <a:srgbClr val="4AD9FF"/>
                </a:solidFill>
              </a:rPr>
              <a:t> </a:t>
            </a:r>
            <a:r>
              <a:rPr lang="ru-RU" b="1" dirty="0">
                <a:solidFill>
                  <a:schemeClr val="bg1"/>
                </a:solidFill>
              </a:rPr>
              <a:t>— навигация по базе знаний</a:t>
            </a:r>
            <a:endParaRPr dirty="0">
              <a:solidFill>
                <a:schemeClr val="bg1"/>
              </a:solidFill>
            </a:endParaRPr>
          </a:p>
          <a:p>
            <a:pPr marL="257175" indent="-257175">
              <a:spcBef>
                <a:spcPts val="900"/>
              </a:spcBef>
              <a:buClr>
                <a:srgbClr val="019CE3"/>
              </a:buClr>
              <a:buSzPts val="4000"/>
              <a:buFont typeface="Arial"/>
              <a:buChar char="•"/>
            </a:pPr>
            <a:r>
              <a:rPr lang="ru-RU" dirty="0">
                <a:solidFill>
                  <a:schemeClr val="bg1"/>
                </a:solidFill>
              </a:rPr>
              <a:t>LLM-сгенерированная иерархическая карта всей документации</a:t>
            </a:r>
            <a:endParaRPr dirty="0">
              <a:solidFill>
                <a:schemeClr val="bg1"/>
              </a:solidFill>
            </a:endParaRPr>
          </a:p>
          <a:p>
            <a:pPr marL="257175" indent="-257175">
              <a:spcBef>
                <a:spcPts val="900"/>
              </a:spcBef>
              <a:buClr>
                <a:srgbClr val="019CE3"/>
              </a:buClr>
              <a:buSzPts val="4000"/>
              <a:buFont typeface="Arial"/>
              <a:buChar char="•"/>
            </a:pPr>
            <a:r>
              <a:rPr lang="ru-RU" dirty="0">
                <a:solidFill>
                  <a:schemeClr val="bg1"/>
                </a:solidFill>
              </a:rPr>
              <a:t>Подаётся в </a:t>
            </a:r>
            <a:r>
              <a:rPr lang="ru-RU" dirty="0" err="1">
                <a:solidFill>
                  <a:schemeClr val="bg1"/>
                </a:solidFill>
              </a:rPr>
              <a:t>system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prompt</a:t>
            </a:r>
            <a:r>
              <a:rPr lang="ru-RU" dirty="0">
                <a:solidFill>
                  <a:schemeClr val="bg1"/>
                </a:solidFill>
              </a:rPr>
              <a:t> — агент видит структуру как оглавление</a:t>
            </a:r>
            <a:endParaRPr dirty="0">
              <a:solidFill>
                <a:schemeClr val="bg1"/>
              </a:solidFill>
            </a:endParaRPr>
          </a:p>
          <a:p>
            <a:pPr marL="0" indent="0">
              <a:spcBef>
                <a:spcPts val="900"/>
              </a:spcBef>
              <a:buClr>
                <a:srgbClr val="019CE3"/>
              </a:buClr>
              <a:buSzPts val="4000"/>
            </a:pPr>
            <a:endParaRPr b="1" dirty="0">
              <a:solidFill>
                <a:schemeClr val="bg1"/>
              </a:solidFill>
            </a:endParaRPr>
          </a:p>
          <a:p>
            <a:pPr marL="0" indent="0">
              <a:spcBef>
                <a:spcPts val="900"/>
              </a:spcBef>
              <a:buClr>
                <a:srgbClr val="019CE3"/>
              </a:buClr>
              <a:buSzPts val="4000"/>
              <a:buNone/>
            </a:pPr>
            <a:r>
              <a:rPr lang="ru-RU" b="1" dirty="0">
                <a:solidFill>
                  <a:schemeClr val="bg1"/>
                </a:solidFill>
              </a:rPr>
              <a:t>Агент решает:</a:t>
            </a:r>
            <a:endParaRPr dirty="0">
              <a:solidFill>
                <a:schemeClr val="bg1"/>
              </a:solidFill>
            </a:endParaRPr>
          </a:p>
          <a:p>
            <a:pPr marL="257175" indent="-257175">
              <a:spcBef>
                <a:spcPts val="900"/>
              </a:spcBef>
              <a:buClr>
                <a:srgbClr val="019CE3"/>
              </a:buClr>
              <a:buSzPts val="4000"/>
              <a:buFont typeface="Arial"/>
              <a:buChar char="•"/>
            </a:pPr>
            <a:r>
              <a:rPr lang="ru-RU" dirty="0" err="1">
                <a:solidFill>
                  <a:schemeClr val="bg1"/>
                </a:solidFill>
              </a:rPr>
              <a:t>search</a:t>
            </a:r>
            <a:r>
              <a:rPr lang="ru-RU" dirty="0">
                <a:solidFill>
                  <a:schemeClr val="bg1"/>
                </a:solidFill>
              </a:rPr>
              <a:t>(</a:t>
            </a:r>
            <a:r>
              <a:rPr lang="ru-RU" dirty="0" err="1">
                <a:solidFill>
                  <a:schemeClr val="bg1"/>
                </a:solidFill>
              </a:rPr>
              <a:t>query</a:t>
            </a:r>
            <a:r>
              <a:rPr lang="ru-RU" dirty="0">
                <a:solidFill>
                  <a:schemeClr val="bg1"/>
                </a:solidFill>
              </a:rPr>
              <a:t>, </a:t>
            </a:r>
            <a:r>
              <a:rPr lang="ru-RU" dirty="0" err="1">
                <a:solidFill>
                  <a:schemeClr val="bg1"/>
                </a:solidFill>
              </a:rPr>
              <a:t>section_ids</a:t>
            </a:r>
            <a:r>
              <a:rPr lang="ru-RU" dirty="0">
                <a:solidFill>
                  <a:schemeClr val="bg1"/>
                </a:solidFill>
              </a:rPr>
              <a:t>) — поиск с фильтрацией по разделам</a:t>
            </a:r>
            <a:endParaRPr dirty="0">
              <a:solidFill>
                <a:schemeClr val="bg1"/>
              </a:solidFill>
            </a:endParaRPr>
          </a:p>
          <a:p>
            <a:pPr marL="257175" indent="-257175">
              <a:spcBef>
                <a:spcPts val="900"/>
              </a:spcBef>
              <a:buClr>
                <a:srgbClr val="019CE3"/>
              </a:buClr>
              <a:buSzPts val="4000"/>
              <a:buFont typeface="Arial"/>
              <a:buChar char="•"/>
            </a:pPr>
            <a:r>
              <a:rPr lang="ru-RU" dirty="0" err="1">
                <a:solidFill>
                  <a:schemeClr val="bg1"/>
                </a:solidFill>
              </a:rPr>
              <a:t>get</a:t>
            </a:r>
            <a:r>
              <a:rPr lang="ru-RU" dirty="0">
                <a:solidFill>
                  <a:schemeClr val="bg1"/>
                </a:solidFill>
              </a:rPr>
              <a:t>_</a:t>
            </a:r>
            <a:r>
              <a:rPr lang="en-US" dirty="0">
                <a:solidFill>
                  <a:schemeClr val="bg1"/>
                </a:solidFill>
              </a:rPr>
              <a:t>document</a:t>
            </a:r>
            <a:r>
              <a:rPr lang="ru-RU" dirty="0">
                <a:solidFill>
                  <a:schemeClr val="bg1"/>
                </a:solidFill>
              </a:rPr>
              <a:t>() — расширение контекста до документа</a:t>
            </a:r>
          </a:p>
          <a:p>
            <a:pPr marL="257175" indent="-257175">
              <a:spcBef>
                <a:spcPts val="900"/>
              </a:spcBef>
              <a:buClr>
                <a:srgbClr val="019CE3"/>
              </a:buClr>
              <a:buSzPts val="4000"/>
              <a:buFont typeface="Arial"/>
              <a:buChar char="•"/>
            </a:pPr>
            <a:r>
              <a:rPr lang="en-US" dirty="0" err="1">
                <a:solidFill>
                  <a:schemeClr val="bg1"/>
                </a:solidFill>
              </a:rPr>
              <a:t>search_glossary</a:t>
            </a:r>
            <a:r>
              <a:rPr lang="en-US" dirty="0">
                <a:solidFill>
                  <a:schemeClr val="bg1"/>
                </a:solidFill>
              </a:rPr>
              <a:t>() -- </a:t>
            </a:r>
            <a:r>
              <a:rPr lang="ru-RU" dirty="0">
                <a:solidFill>
                  <a:schemeClr val="bg1"/>
                </a:solidFill>
              </a:rPr>
              <a:t>уточни аббревиатуру</a:t>
            </a:r>
            <a:endParaRPr dirty="0">
              <a:solidFill>
                <a:schemeClr val="bg1"/>
              </a:solidFill>
            </a:endParaRPr>
          </a:p>
          <a:p>
            <a:pPr marL="257175" indent="-257175">
              <a:spcBef>
                <a:spcPts val="900"/>
              </a:spcBef>
              <a:buClr>
                <a:srgbClr val="019CE3"/>
              </a:buClr>
              <a:buSzPts val="4000"/>
              <a:buFont typeface="Arial"/>
              <a:buChar char="•"/>
            </a:pPr>
            <a:r>
              <a:rPr lang="ru-RU" dirty="0">
                <a:solidFill>
                  <a:schemeClr val="bg1"/>
                </a:solidFill>
              </a:rPr>
              <a:t>Хватает ли данных или нужен ещё один раунд</a:t>
            </a:r>
            <a:endParaRPr dirty="0">
              <a:solidFill>
                <a:schemeClr val="bg1"/>
              </a:solidFill>
            </a:endParaRPr>
          </a:p>
          <a:p>
            <a:pPr marL="257175" indent="-66675">
              <a:spcBef>
                <a:spcPts val="900"/>
              </a:spcBef>
              <a:buClr>
                <a:srgbClr val="019CE3"/>
              </a:buClr>
              <a:buSzPts val="4000"/>
            </a:pPr>
            <a:endParaRPr dirty="0">
              <a:solidFill>
                <a:schemeClr val="bg1"/>
              </a:solidFill>
            </a:endParaRPr>
          </a:p>
          <a:p>
            <a:pPr marL="0" indent="0">
              <a:spcBef>
                <a:spcPts val="900"/>
              </a:spcBef>
              <a:buClr>
                <a:srgbClr val="019CE3"/>
              </a:buClr>
              <a:buSzPts val="4000"/>
              <a:buNone/>
            </a:pPr>
            <a:r>
              <a:rPr lang="ru-RU" b="1" dirty="0">
                <a:solidFill>
                  <a:schemeClr val="bg1"/>
                </a:solidFill>
              </a:rPr>
              <a:t>Примеры задач:</a:t>
            </a:r>
            <a:endParaRPr dirty="0">
              <a:solidFill>
                <a:schemeClr val="bg1"/>
              </a:solidFill>
            </a:endParaRPr>
          </a:p>
          <a:p>
            <a:pPr marL="257175" indent="-257175">
              <a:spcBef>
                <a:spcPts val="900"/>
              </a:spcBef>
              <a:buClr>
                <a:srgbClr val="019CE3"/>
              </a:buClr>
              <a:buSzPts val="4000"/>
              <a:buFont typeface="Arial"/>
              <a:buChar char="•"/>
            </a:pPr>
            <a:r>
              <a:rPr lang="ru-RU" dirty="0">
                <a:solidFill>
                  <a:schemeClr val="bg1"/>
                </a:solidFill>
              </a:rPr>
              <a:t>Пройтись по документации отдела → сгенерировать описание вакансии</a:t>
            </a:r>
            <a:endParaRPr dirty="0">
              <a:solidFill>
                <a:schemeClr val="bg1"/>
              </a:solidFill>
            </a:endParaRPr>
          </a:p>
          <a:p>
            <a:pPr marL="257175" indent="-257175">
              <a:spcBef>
                <a:spcPts val="900"/>
              </a:spcBef>
              <a:buClr>
                <a:srgbClr val="019CE3"/>
              </a:buClr>
              <a:buSzPts val="4000"/>
              <a:buFont typeface="Arial"/>
              <a:buChar char="•"/>
            </a:pPr>
            <a:r>
              <a:rPr lang="ru-RU" dirty="0">
                <a:solidFill>
                  <a:schemeClr val="bg1"/>
                </a:solidFill>
              </a:rPr>
              <a:t>Проанализировать связи между компонентами → нарисовать диаграмму</a:t>
            </a:r>
            <a:endParaRPr dirty="0">
              <a:solidFill>
                <a:schemeClr val="bg1"/>
              </a:solidFill>
            </a:endParaRPr>
          </a:p>
          <a:p>
            <a:pPr marL="257175" indent="-257175">
              <a:spcBef>
                <a:spcPts val="900"/>
              </a:spcBef>
              <a:buClr>
                <a:srgbClr val="019CE3"/>
              </a:buClr>
              <a:buSzPts val="4000"/>
              <a:buFont typeface="Arial"/>
              <a:buChar char="•"/>
            </a:pPr>
            <a:r>
              <a:rPr lang="ru-RU" dirty="0">
                <a:solidFill>
                  <a:schemeClr val="bg1"/>
                </a:solidFill>
              </a:rPr>
              <a:t>Ответить на сложный вопрос, требующий нескольких документов</a:t>
            </a:r>
            <a:endParaRPr dirty="0">
              <a:solidFill>
                <a:schemeClr val="bg1"/>
              </a:solidFill>
            </a:endParaRPr>
          </a:p>
          <a:p>
            <a:pPr marL="257175" indent="-66675">
              <a:spcBef>
                <a:spcPts val="900"/>
              </a:spcBef>
              <a:buClr>
                <a:srgbClr val="019CE3"/>
              </a:buClr>
              <a:buSzPts val="4000"/>
            </a:pPr>
            <a:endParaRPr sz="2700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900"/>
              </a:spcBef>
              <a:buClr>
                <a:srgbClr val="019CE3"/>
              </a:buClr>
              <a:buSzPts val="4000"/>
            </a:pPr>
            <a:endParaRPr sz="1800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900"/>
              </a:spcBef>
              <a:buClr>
                <a:srgbClr val="019CE3"/>
              </a:buClr>
              <a:buSzPts val="4000"/>
            </a:pPr>
            <a:endParaRPr sz="1800" b="1" u="sng" dirty="0">
              <a:solidFill>
                <a:schemeClr val="bg1"/>
              </a:solidFill>
            </a:endParaRPr>
          </a:p>
        </p:txBody>
      </p:sp>
      <p:sp>
        <p:nvSpPr>
          <p:cNvPr id="128" name="Google Shape;128;p7"/>
          <p:cNvSpPr txBox="1">
            <a:spLocks noGrp="1"/>
          </p:cNvSpPr>
          <p:nvPr>
            <p:ph type="title" idx="4294967295"/>
          </p:nvPr>
        </p:nvSpPr>
        <p:spPr>
          <a:xfrm>
            <a:off x="742950" y="1454150"/>
            <a:ext cx="15982950" cy="1008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 fontScale="90000"/>
          </a:bodyPr>
          <a:lstStyle/>
          <a:p>
            <a:r>
              <a:rPr lang="ru-RU" sz="6000" b="1" dirty="0">
                <a:solidFill>
                  <a:schemeClr val="bg1"/>
                </a:solidFill>
                <a:latin typeface="+mn-lt"/>
              </a:rPr>
              <a:t>И ещё он </a:t>
            </a:r>
            <a:r>
              <a:rPr lang="ru-RU" sz="6000" b="1" dirty="0">
                <a:solidFill>
                  <a:srgbClr val="4AD9FF"/>
                </a:solidFill>
                <a:latin typeface="+mn-lt"/>
              </a:rPr>
              <a:t>агентский</a:t>
            </a:r>
            <a:r>
              <a:rPr lang="en-US" sz="6000" b="1" dirty="0">
                <a:solidFill>
                  <a:srgbClr val="4AD9FF"/>
                </a:solidFill>
                <a:latin typeface="+mn-lt"/>
              </a:rPr>
              <a:t> </a:t>
            </a:r>
            <a:r>
              <a:rPr lang="en-US" sz="6000" dirty="0">
                <a:solidFill>
                  <a:schemeClr val="bg1"/>
                </a:solidFill>
                <a:latin typeface="+mn-lt"/>
              </a:rPr>
              <a:t>(</a:t>
            </a:r>
            <a:r>
              <a:rPr lang="ru-RU" sz="6000" dirty="0">
                <a:solidFill>
                  <a:schemeClr val="bg1"/>
                </a:solidFill>
                <a:latin typeface="+mn-lt"/>
              </a:rPr>
              <a:t>стал во время соревнования)</a:t>
            </a:r>
            <a:endParaRPr sz="6000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9130" y="1321417"/>
            <a:ext cx="150876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121"/>
                </a:solidFill>
                <a:latin typeface="Calibri"/>
              </a:defRPr>
            </a:pPr>
            <a:r>
              <a:rPr sz="6600" dirty="0">
                <a:solidFill>
                  <a:srgbClr val="4AD9FF"/>
                </a:solidFill>
              </a:rPr>
              <a:t>Agentic</a:t>
            </a:r>
            <a:r>
              <a:rPr sz="6600" dirty="0">
                <a:solidFill>
                  <a:schemeClr val="bg1"/>
                </a:solidFill>
              </a:rPr>
              <a:t> RAG Legal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130" y="2880361"/>
            <a:ext cx="11658600" cy="1408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Clr>
                <a:srgbClr val="4AD9FF"/>
              </a:buClr>
              <a:buFont typeface="Arial" panose="020B0604020202020204" pitchFamily="34" charset="0"/>
              <a:buChar char="•"/>
              <a:defRPr sz="1900" b="0">
                <a:solidFill>
                  <a:srgbClr val="212121"/>
                </a:solidFill>
                <a:latin typeface="Calibri"/>
              </a:defRPr>
            </a:pPr>
            <a:r>
              <a:rPr sz="2800" dirty="0">
                <a:solidFill>
                  <a:schemeClr val="bg1"/>
                </a:solidFill>
              </a:rPr>
              <a:t>300 </a:t>
            </a:r>
            <a:r>
              <a:rPr sz="2800" dirty="0" err="1">
                <a:solidFill>
                  <a:schemeClr val="bg1"/>
                </a:solidFill>
              </a:rPr>
              <a:t>реальных</a:t>
            </a:r>
            <a:r>
              <a:rPr sz="2800" dirty="0">
                <a:solidFill>
                  <a:schemeClr val="bg1"/>
                </a:solidFill>
              </a:rPr>
              <a:t> </a:t>
            </a:r>
            <a:r>
              <a:rPr sz="2800" dirty="0" err="1">
                <a:solidFill>
                  <a:schemeClr val="bg1"/>
                </a:solidFill>
              </a:rPr>
              <a:t>юридических</a:t>
            </a:r>
            <a:r>
              <a:rPr sz="2800" dirty="0">
                <a:solidFill>
                  <a:schemeClr val="bg1"/>
                </a:solidFill>
              </a:rPr>
              <a:t> PDF (DIFC, </a:t>
            </a:r>
            <a:r>
              <a:rPr sz="2800" dirty="0" err="1">
                <a:solidFill>
                  <a:schemeClr val="bg1"/>
                </a:solidFill>
              </a:rPr>
              <a:t>Дубай</a:t>
            </a:r>
            <a:r>
              <a:rPr sz="2800" dirty="0">
                <a:solidFill>
                  <a:schemeClr val="bg1"/>
                </a:solidFill>
              </a:rPr>
              <a:t>)</a:t>
            </a:r>
            <a:endParaRPr lang="ru-RU" sz="2800" dirty="0">
              <a:solidFill>
                <a:schemeClr val="bg1"/>
              </a:solidFill>
            </a:endParaRPr>
          </a:p>
          <a:p>
            <a:pPr marL="457200" indent="-457200">
              <a:buClr>
                <a:srgbClr val="4AD9FF"/>
              </a:buClr>
              <a:buFont typeface="Arial" panose="020B0604020202020204" pitchFamily="34" charset="0"/>
              <a:buChar char="•"/>
              <a:defRPr sz="1900" b="0">
                <a:solidFill>
                  <a:srgbClr val="212121"/>
                </a:solidFill>
                <a:latin typeface="Calibri"/>
              </a:defRPr>
            </a:pPr>
            <a:r>
              <a:rPr lang="ru-RU" sz="2800" dirty="0">
                <a:solidFill>
                  <a:schemeClr val="bg1"/>
                </a:solidFill>
              </a:rPr>
              <a:t>900 вопросов, 6 типов ответов</a:t>
            </a:r>
          </a:p>
          <a:p>
            <a:pPr marL="457200" indent="-457200">
              <a:buClr>
                <a:srgbClr val="4AD9FF"/>
              </a:buClr>
              <a:buFont typeface="Arial" panose="020B0604020202020204" pitchFamily="34" charset="0"/>
              <a:buChar char="•"/>
              <a:defRPr sz="1900" b="0">
                <a:solidFill>
                  <a:srgbClr val="212121"/>
                </a:solidFill>
                <a:latin typeface="Calibri"/>
              </a:defRPr>
            </a:pPr>
            <a:r>
              <a:rPr lang="ru-RU" sz="2800" dirty="0">
                <a:solidFill>
                  <a:schemeClr val="bg1"/>
                </a:solidFill>
              </a:rPr>
              <a:t>Финал: 2 попытки </a:t>
            </a:r>
            <a:r>
              <a:rPr lang="ru-RU" sz="2800" dirty="0" err="1">
                <a:solidFill>
                  <a:schemeClr val="bg1"/>
                </a:solidFill>
              </a:rPr>
              <a:t>сабмита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97280" y="5486401"/>
            <a:ext cx="150876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88"/>
                </a:solidFill>
                <a:latin typeface="Calibri"/>
              </a:defRPr>
            </a:pPr>
            <a:r>
              <a:rPr sz="2700"/>
              <a:t>Формула скоринга: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172201"/>
            <a:ext cx="1508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68A00"/>
                </a:solidFill>
                <a:latin typeface="Calibri"/>
              </a:defRPr>
            </a:pPr>
            <a:r>
              <a:rPr sz="3600"/>
              <a:t>Total = (0.7 x S_det + 0.3 x S_asst) x G x T x 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7269480"/>
            <a:ext cx="121615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16161"/>
                </a:solidFill>
                <a:latin typeface="Calibri"/>
              </a:defRPr>
            </a:pPr>
            <a:r>
              <a:rPr sz="2250" dirty="0" err="1">
                <a:solidFill>
                  <a:schemeClr val="bg1"/>
                </a:solidFill>
              </a:rPr>
              <a:t>S_det</a:t>
            </a:r>
            <a:r>
              <a:rPr sz="2250" dirty="0">
                <a:solidFill>
                  <a:schemeClr val="bg1"/>
                </a:solidFill>
              </a:rPr>
              <a:t> — </a:t>
            </a:r>
            <a:r>
              <a:rPr sz="2250" dirty="0" err="1">
                <a:solidFill>
                  <a:schemeClr val="bg1"/>
                </a:solidFill>
              </a:rPr>
              <a:t>точность</a:t>
            </a:r>
            <a:r>
              <a:rPr sz="2250" dirty="0">
                <a:solidFill>
                  <a:schemeClr val="bg1"/>
                </a:solidFill>
              </a:rPr>
              <a:t> (</a:t>
            </a:r>
            <a:r>
              <a:rPr sz="2250" dirty="0" err="1">
                <a:solidFill>
                  <a:schemeClr val="bg1"/>
                </a:solidFill>
              </a:rPr>
              <a:t>boolean</a:t>
            </a:r>
            <a:r>
              <a:rPr sz="2250" dirty="0">
                <a:solidFill>
                  <a:schemeClr val="bg1"/>
                </a:solidFill>
              </a:rPr>
              <a:t>, number, date, name, names)</a:t>
            </a:r>
            <a:br>
              <a:rPr sz="2250" dirty="0">
                <a:solidFill>
                  <a:schemeClr val="bg1"/>
                </a:solidFill>
              </a:rPr>
            </a:br>
            <a:r>
              <a:rPr sz="2250" dirty="0" err="1">
                <a:solidFill>
                  <a:schemeClr val="bg1"/>
                </a:solidFill>
              </a:rPr>
              <a:t>S_asst</a:t>
            </a:r>
            <a:r>
              <a:rPr sz="2250" dirty="0">
                <a:solidFill>
                  <a:schemeClr val="bg1"/>
                </a:solidFill>
              </a:rPr>
              <a:t> — </a:t>
            </a:r>
            <a:r>
              <a:rPr sz="2250" dirty="0" err="1">
                <a:solidFill>
                  <a:schemeClr val="bg1"/>
                </a:solidFill>
              </a:rPr>
              <a:t>качество</a:t>
            </a:r>
            <a:r>
              <a:rPr sz="2250" dirty="0">
                <a:solidFill>
                  <a:schemeClr val="bg1"/>
                </a:solidFill>
              </a:rPr>
              <a:t> </a:t>
            </a:r>
            <a:r>
              <a:rPr sz="2250" dirty="0" err="1">
                <a:solidFill>
                  <a:schemeClr val="bg1"/>
                </a:solidFill>
              </a:rPr>
              <a:t>free_text</a:t>
            </a:r>
            <a:r>
              <a:rPr sz="2250" dirty="0">
                <a:solidFill>
                  <a:schemeClr val="bg1"/>
                </a:solidFill>
              </a:rPr>
              <a:t> (LLM-</a:t>
            </a:r>
            <a:r>
              <a:rPr sz="2250" dirty="0" err="1">
                <a:solidFill>
                  <a:schemeClr val="bg1"/>
                </a:solidFill>
              </a:rPr>
              <a:t>судья</a:t>
            </a:r>
            <a:r>
              <a:rPr sz="2250" dirty="0">
                <a:solidFill>
                  <a:schemeClr val="bg1"/>
                </a:solidFill>
              </a:rPr>
              <a:t>, 5 </a:t>
            </a:r>
            <a:r>
              <a:rPr sz="2250" dirty="0" err="1">
                <a:solidFill>
                  <a:schemeClr val="bg1"/>
                </a:solidFill>
              </a:rPr>
              <a:t>критериев</a:t>
            </a:r>
            <a:r>
              <a:rPr sz="2250" dirty="0">
                <a:solidFill>
                  <a:schemeClr val="bg1"/>
                </a:solidFill>
              </a:rPr>
              <a:t>)</a:t>
            </a:r>
            <a:br>
              <a:rPr sz="2250" dirty="0">
                <a:solidFill>
                  <a:schemeClr val="bg1"/>
                </a:solidFill>
              </a:rPr>
            </a:br>
            <a:r>
              <a:rPr sz="2250" dirty="0">
                <a:solidFill>
                  <a:schemeClr val="bg1"/>
                </a:solidFill>
              </a:rPr>
              <a:t>G — Grounding (</a:t>
            </a:r>
            <a:r>
              <a:rPr sz="2250" dirty="0" err="1">
                <a:solidFill>
                  <a:schemeClr val="bg1"/>
                </a:solidFill>
              </a:rPr>
              <a:t>правильные</a:t>
            </a:r>
            <a:r>
              <a:rPr sz="2250" dirty="0">
                <a:solidFill>
                  <a:schemeClr val="bg1"/>
                </a:solidFill>
              </a:rPr>
              <a:t> </a:t>
            </a:r>
            <a:r>
              <a:rPr sz="2250" dirty="0" err="1">
                <a:solidFill>
                  <a:schemeClr val="bg1"/>
                </a:solidFill>
              </a:rPr>
              <a:t>страницы</a:t>
            </a:r>
            <a:r>
              <a:rPr sz="2250" dirty="0">
                <a:solidFill>
                  <a:schemeClr val="bg1"/>
                </a:solidFill>
              </a:rPr>
              <a:t>). МНОЖИТЕЛЬ! </a:t>
            </a:r>
            <a:r>
              <a:rPr sz="2250" dirty="0" err="1">
                <a:solidFill>
                  <a:schemeClr val="bg1"/>
                </a:solidFill>
              </a:rPr>
              <a:t>Идеальный</a:t>
            </a:r>
            <a:r>
              <a:rPr sz="2250" dirty="0">
                <a:solidFill>
                  <a:schemeClr val="bg1"/>
                </a:solidFill>
              </a:rPr>
              <a:t> </a:t>
            </a:r>
            <a:r>
              <a:rPr sz="2250" dirty="0" err="1">
                <a:solidFill>
                  <a:schemeClr val="bg1"/>
                </a:solidFill>
              </a:rPr>
              <a:t>ответ</a:t>
            </a:r>
            <a:r>
              <a:rPr sz="2250" dirty="0">
                <a:solidFill>
                  <a:schemeClr val="bg1"/>
                </a:solidFill>
              </a:rPr>
              <a:t> x 0 = 0</a:t>
            </a:r>
            <a:br>
              <a:rPr sz="2250" dirty="0">
                <a:solidFill>
                  <a:schemeClr val="bg1"/>
                </a:solidFill>
              </a:rPr>
            </a:br>
            <a:r>
              <a:rPr sz="2250" dirty="0">
                <a:solidFill>
                  <a:schemeClr val="bg1"/>
                </a:solidFill>
              </a:rPr>
              <a:t>T — </a:t>
            </a:r>
            <a:r>
              <a:rPr sz="2250" dirty="0" err="1">
                <a:solidFill>
                  <a:schemeClr val="bg1"/>
                </a:solidFill>
              </a:rPr>
              <a:t>телеметрия</a:t>
            </a:r>
            <a:r>
              <a:rPr sz="2250" dirty="0">
                <a:solidFill>
                  <a:schemeClr val="bg1"/>
                </a:solidFill>
              </a:rPr>
              <a:t> (~1.0)   |   F — </a:t>
            </a:r>
            <a:r>
              <a:rPr sz="2250" dirty="0" err="1">
                <a:solidFill>
                  <a:schemeClr val="bg1"/>
                </a:solidFill>
              </a:rPr>
              <a:t>скорость</a:t>
            </a:r>
            <a:r>
              <a:rPr sz="2250" dirty="0">
                <a:solidFill>
                  <a:schemeClr val="bg1"/>
                </a:solidFill>
              </a:rPr>
              <a:t> (&lt;1с=+5%, &gt;3с=</a:t>
            </a:r>
            <a:r>
              <a:rPr sz="2250" dirty="0" err="1">
                <a:solidFill>
                  <a:schemeClr val="bg1"/>
                </a:solidFill>
              </a:rPr>
              <a:t>штраф</a:t>
            </a:r>
            <a:r>
              <a:rPr sz="2250" dirty="0">
                <a:solidFill>
                  <a:schemeClr val="bg1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97280" y="1097280"/>
            <a:ext cx="15087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121"/>
                </a:solidFill>
                <a:latin typeface="Calibri"/>
              </a:defRPr>
            </a:pPr>
            <a:r>
              <a:rPr sz="6000" dirty="0" err="1">
                <a:solidFill>
                  <a:schemeClr val="bg1"/>
                </a:solidFill>
              </a:rPr>
              <a:t>Что</a:t>
            </a:r>
            <a:r>
              <a:rPr sz="6000" dirty="0">
                <a:solidFill>
                  <a:schemeClr val="bg1"/>
                </a:solidFill>
              </a:rPr>
              <a:t> </a:t>
            </a:r>
            <a:r>
              <a:rPr sz="6000" dirty="0" err="1">
                <a:solidFill>
                  <a:schemeClr val="bg1"/>
                </a:solidFill>
              </a:rPr>
              <a:t>мы</a:t>
            </a:r>
            <a:r>
              <a:rPr sz="6000" dirty="0">
                <a:solidFill>
                  <a:schemeClr val="bg1"/>
                </a:solidFill>
              </a:rPr>
              <a:t> </a:t>
            </a:r>
            <a:r>
              <a:rPr sz="6000" dirty="0" err="1">
                <a:solidFill>
                  <a:schemeClr val="bg1"/>
                </a:solidFill>
              </a:rPr>
              <a:t>попробовали</a:t>
            </a:r>
            <a:r>
              <a:rPr sz="6000" dirty="0">
                <a:solidFill>
                  <a:schemeClr val="bg1"/>
                </a:solidFill>
              </a:rPr>
              <a:t> (</a:t>
            </a:r>
            <a:r>
              <a:rPr sz="6000" dirty="0" err="1">
                <a:solidFill>
                  <a:schemeClr val="bg1"/>
                </a:solidFill>
              </a:rPr>
              <a:t>и</a:t>
            </a:r>
            <a:r>
              <a:rPr sz="6000" dirty="0">
                <a:solidFill>
                  <a:schemeClr val="bg1"/>
                </a:solidFill>
              </a:rPr>
              <a:t> </a:t>
            </a:r>
            <a:r>
              <a:rPr sz="6000" dirty="0" err="1">
                <a:solidFill>
                  <a:schemeClr val="bg1"/>
                </a:solidFill>
              </a:rPr>
              <a:t>что</a:t>
            </a:r>
            <a:r>
              <a:rPr sz="6000" dirty="0">
                <a:solidFill>
                  <a:schemeClr val="bg1"/>
                </a:solidFill>
              </a:rPr>
              <a:t> </a:t>
            </a:r>
            <a:r>
              <a:rPr sz="6000" dirty="0" err="1">
                <a:solidFill>
                  <a:srgbClr val="4AD9FF"/>
                </a:solidFill>
              </a:rPr>
              <a:t>не</a:t>
            </a:r>
            <a:r>
              <a:rPr sz="6000" dirty="0">
                <a:solidFill>
                  <a:schemeClr val="bg1"/>
                </a:solidFill>
              </a:rPr>
              <a:t> </a:t>
            </a:r>
            <a:r>
              <a:rPr sz="6000" dirty="0" err="1">
                <a:solidFill>
                  <a:schemeClr val="bg1"/>
                </a:solidFill>
              </a:rPr>
              <a:t>сработало</a:t>
            </a:r>
            <a:r>
              <a:rPr sz="6000" dirty="0">
                <a:solidFill>
                  <a:schemeClr val="bg1"/>
                </a:solidFill>
              </a:rPr>
              <a:t>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2880360"/>
          <a:ext cx="13990320" cy="3648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120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2100"/>
                        <a:t>Подход</a:t>
                      </a:r>
                    </a:p>
                  </a:txBody>
                  <a:tcPr marL="137160" marR="137160" marT="68580" marB="68580"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2100"/>
                        <a:t>Total</a:t>
                      </a:r>
                    </a:p>
                  </a:txBody>
                  <a:tcPr marL="137160" marR="137160" marT="68580" marB="68580"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2100"/>
                        <a:t>Проблема</a:t>
                      </a:r>
                    </a:p>
                  </a:txBody>
                  <a:tcPr marL="137160" marR="137160" marT="68580" marB="68580">
                    <a:solidFill>
                      <a:srgbClr val="0096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100"/>
                        <a:t>OpenAI built-in RAG</a:t>
                      </a:r>
                    </a:p>
                  </a:txBody>
                  <a:tcPr marL="137160" marR="137160" marT="68580" marB="68580"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100"/>
                        <a:t>0.362</a:t>
                      </a:r>
                    </a:p>
                  </a:txBody>
                  <a:tcPr marL="137160" marR="137160" marT="68580" marB="68580"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100"/>
                        <a:t>Плохое цитирование (G=0.45)</a:t>
                      </a:r>
                    </a:p>
                  </a:txBody>
                  <a:tcPr marL="137160" marR="137160" marT="68580" marB="68580"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100"/>
                        <a:t>CAG: Qwen 3.5-Flash 1M (350K токенов)</a:t>
                      </a:r>
                    </a:p>
                  </a:txBody>
                  <a:tcPr marL="137160" marR="137160" marT="68580" marB="6858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100"/>
                        <a:t>0.403</a:t>
                      </a:r>
                    </a:p>
                  </a:txBody>
                  <a:tcPr marL="137160" marR="137160" marT="68580" marB="6858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100"/>
                        <a:t>Grounding провалился</a:t>
                      </a:r>
                    </a:p>
                  </a:txBody>
                  <a:tcPr marL="137160" marR="137160" marT="68580" marB="68580">
                    <a:solidFill>
                      <a:srgbClr val="F5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100"/>
                        <a:t>BM25 alone (top-12 страниц)</a:t>
                      </a:r>
                    </a:p>
                  </a:txBody>
                  <a:tcPr marL="137160" marR="137160" marT="68580" marB="68580"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100"/>
                        <a:t>0.269</a:t>
                      </a:r>
                    </a:p>
                  </a:txBody>
                  <a:tcPr marL="137160" marR="137160" marT="68580" marB="68580"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100"/>
                        <a:t>Самый слабый результат</a:t>
                      </a:r>
                    </a:p>
                  </a:txBody>
                  <a:tcPr marL="137160" marR="137160" marT="68580" marB="68580"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100"/>
                        <a:t>MORAG v1 + Qwen 9b локально</a:t>
                      </a:r>
                    </a:p>
                  </a:txBody>
                  <a:tcPr marL="137160" marR="137160" marT="68580" marB="6858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100"/>
                        <a:t>0.374</a:t>
                      </a:r>
                    </a:p>
                  </a:txBody>
                  <a:tcPr marL="137160" marR="137160" marT="68580" marB="6858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100"/>
                        <a:t>Маленькая модель не тянет</a:t>
                      </a:r>
                    </a:p>
                  </a:txBody>
                  <a:tcPr marL="137160" marR="137160" marT="68580" marB="68580">
                    <a:solidFill>
                      <a:srgbClr val="F5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100"/>
                        <a:t>MORAG + Grok + hybrid search</a:t>
                      </a:r>
                    </a:p>
                  </a:txBody>
                  <a:tcPr marL="137160" marR="137160" marT="68580" marB="68580"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100"/>
                        <a:t>0.664</a:t>
                      </a:r>
                    </a:p>
                  </a:txBody>
                  <a:tcPr marL="137160" marR="137160" marT="68580" marB="68580"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100"/>
                        <a:t>Grounding всё ещё 0.757</a:t>
                      </a:r>
                    </a:p>
                  </a:txBody>
                  <a:tcPr marL="137160" marR="137160" marT="68580" marB="68580"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100" dirty="0"/>
                        <a:t>MORAG final (pinning + reasoning)</a:t>
                      </a:r>
                    </a:p>
                  </a:txBody>
                  <a:tcPr marL="137160" marR="137160" marT="68580" marB="6858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100"/>
                        <a:t>0.780</a:t>
                      </a:r>
                    </a:p>
                  </a:txBody>
                  <a:tcPr marL="137160" marR="137160" marT="68580" marB="6858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100" dirty="0" err="1"/>
                        <a:t>Лучший</a:t>
                      </a:r>
                      <a:r>
                        <a:rPr sz="2100" dirty="0"/>
                        <a:t> warmup </a:t>
                      </a:r>
                      <a:r>
                        <a:rPr sz="2100" dirty="0" err="1"/>
                        <a:t>результат</a:t>
                      </a:r>
                      <a:r>
                        <a:rPr sz="2100" dirty="0"/>
                        <a:t>!</a:t>
                      </a:r>
                    </a:p>
                  </a:txBody>
                  <a:tcPr marL="137160" marR="137160" marT="68580" marB="68580">
                    <a:solidFill>
                      <a:srgbClr val="F5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" y="7680960"/>
            <a:ext cx="150876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8A00"/>
                </a:solidFill>
                <a:latin typeface="Calibri"/>
              </a:defRPr>
            </a:pPr>
            <a:r>
              <a:rPr sz="2700"/>
              <a:t>Grounding вырос с 0.45 до 0.90 — именно он утащил Total с 0.36 до 0.78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97280" y="1097281"/>
            <a:ext cx="15087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121"/>
                </a:solidFill>
                <a:latin typeface="Calibri"/>
              </a:defRPr>
            </a:pPr>
            <a:r>
              <a:rPr sz="6000" dirty="0" err="1">
                <a:solidFill>
                  <a:schemeClr val="bg1"/>
                </a:solidFill>
              </a:rPr>
              <a:t>Ключевые</a:t>
            </a:r>
            <a:r>
              <a:rPr sz="6000" dirty="0">
                <a:solidFill>
                  <a:schemeClr val="bg1"/>
                </a:solidFill>
              </a:rPr>
              <a:t> </a:t>
            </a:r>
            <a:r>
              <a:rPr sz="6000" dirty="0" err="1">
                <a:solidFill>
                  <a:srgbClr val="4AD9FF"/>
                </a:solidFill>
              </a:rPr>
              <a:t>прорывы</a:t>
            </a:r>
            <a:endParaRPr sz="6000" dirty="0">
              <a:solidFill>
                <a:srgbClr val="4AD9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2328762"/>
            <a:ext cx="150876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688"/>
                </a:solidFill>
                <a:latin typeface="Calibri"/>
              </a:defRPr>
            </a:pPr>
            <a:r>
              <a:rPr sz="3300" dirty="0"/>
              <a:t>1. Page Pinning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4562"/>
            <a:ext cx="15087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16161"/>
                </a:solidFill>
                <a:latin typeface="Calibri"/>
              </a:defRPr>
            </a:pPr>
            <a:r>
              <a:rPr sz="2400" dirty="0" err="1">
                <a:solidFill>
                  <a:schemeClr val="bg1"/>
                </a:solidFill>
              </a:rPr>
              <a:t>Страницы</a:t>
            </a:r>
            <a:r>
              <a:rPr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#</a:t>
            </a:r>
            <a:r>
              <a:rPr sz="2400" dirty="0">
                <a:solidFill>
                  <a:schemeClr val="bg1"/>
                </a:solidFill>
              </a:rPr>
              <a:t>1-3 </a:t>
            </a:r>
            <a:r>
              <a:rPr lang="ru-RU" sz="2400" dirty="0">
                <a:solidFill>
                  <a:schemeClr val="bg1"/>
                </a:solidFill>
              </a:rPr>
              <a:t>у </a:t>
            </a:r>
            <a:r>
              <a:rPr sz="2400" dirty="0" err="1">
                <a:solidFill>
                  <a:schemeClr val="bg1"/>
                </a:solidFill>
              </a:rPr>
              <a:t>документов</a:t>
            </a:r>
            <a:r>
              <a:rPr sz="2400" dirty="0">
                <a:solidFill>
                  <a:schemeClr val="bg1"/>
                </a:solidFill>
              </a:rPr>
              <a:t>, </a:t>
            </a:r>
            <a:r>
              <a:rPr sz="2400" dirty="0" err="1">
                <a:solidFill>
                  <a:schemeClr val="bg1"/>
                </a:solidFill>
              </a:rPr>
              <a:t>упомянутых</a:t>
            </a:r>
            <a:r>
              <a:rPr sz="2400" dirty="0">
                <a:solidFill>
                  <a:schemeClr val="bg1"/>
                </a:solidFill>
              </a:rPr>
              <a:t> </a:t>
            </a:r>
            <a:r>
              <a:rPr sz="2400" dirty="0" err="1">
                <a:solidFill>
                  <a:schemeClr val="bg1"/>
                </a:solidFill>
              </a:rPr>
              <a:t>в</a:t>
            </a:r>
            <a:r>
              <a:rPr sz="2400" dirty="0">
                <a:solidFill>
                  <a:schemeClr val="bg1"/>
                </a:solidFill>
              </a:rPr>
              <a:t> </a:t>
            </a:r>
            <a:r>
              <a:rPr sz="2400" dirty="0" err="1">
                <a:solidFill>
                  <a:schemeClr val="bg1"/>
                </a:solidFill>
              </a:rPr>
              <a:t>вопросе</a:t>
            </a:r>
            <a:r>
              <a:rPr sz="2400" dirty="0">
                <a:solidFill>
                  <a:schemeClr val="bg1"/>
                </a:solidFill>
              </a:rPr>
              <a:t>, </a:t>
            </a:r>
            <a:r>
              <a:rPr sz="2400" dirty="0" err="1">
                <a:solidFill>
                  <a:schemeClr val="bg1"/>
                </a:solidFill>
              </a:rPr>
              <a:t>всегда</a:t>
            </a:r>
            <a:r>
              <a:rPr sz="2400" dirty="0">
                <a:solidFill>
                  <a:schemeClr val="bg1"/>
                </a:solidFill>
              </a:rPr>
              <a:t> </a:t>
            </a:r>
            <a:r>
              <a:rPr sz="2400" dirty="0" err="1">
                <a:solidFill>
                  <a:schemeClr val="bg1"/>
                </a:solidFill>
              </a:rPr>
              <a:t>добавляются</a:t>
            </a:r>
            <a:r>
              <a:rPr sz="2400" dirty="0">
                <a:solidFill>
                  <a:schemeClr val="bg1"/>
                </a:solidFill>
              </a:rPr>
              <a:t> </a:t>
            </a:r>
            <a:r>
              <a:rPr sz="2400" dirty="0" err="1">
                <a:solidFill>
                  <a:schemeClr val="bg1"/>
                </a:solidFill>
              </a:rPr>
              <a:t>в</a:t>
            </a:r>
            <a:r>
              <a:rPr sz="2400" dirty="0">
                <a:solidFill>
                  <a:schemeClr val="bg1"/>
                </a:solidFill>
              </a:rPr>
              <a:t> retrieval.</a:t>
            </a:r>
            <a:br>
              <a:rPr sz="2400" dirty="0">
                <a:solidFill>
                  <a:schemeClr val="bg1"/>
                </a:solidFill>
              </a:rPr>
            </a:br>
            <a:r>
              <a:rPr sz="2400" dirty="0" err="1">
                <a:solidFill>
                  <a:schemeClr val="bg1"/>
                </a:solidFill>
              </a:rPr>
              <a:t>На</a:t>
            </a:r>
            <a:r>
              <a:rPr sz="2400" dirty="0">
                <a:solidFill>
                  <a:schemeClr val="bg1"/>
                </a:solidFill>
              </a:rPr>
              <a:t> </a:t>
            </a:r>
            <a:r>
              <a:rPr sz="2400" dirty="0" err="1">
                <a:solidFill>
                  <a:schemeClr val="bg1"/>
                </a:solidFill>
              </a:rPr>
              <a:t>первых</a:t>
            </a:r>
            <a:r>
              <a:rPr sz="2400" dirty="0">
                <a:solidFill>
                  <a:schemeClr val="bg1"/>
                </a:solidFill>
              </a:rPr>
              <a:t> </a:t>
            </a:r>
            <a:r>
              <a:rPr sz="2400" dirty="0" err="1">
                <a:solidFill>
                  <a:schemeClr val="bg1"/>
                </a:solidFill>
              </a:rPr>
              <a:t>страницах</a:t>
            </a:r>
            <a:r>
              <a:rPr sz="2400" dirty="0">
                <a:solidFill>
                  <a:schemeClr val="bg1"/>
                </a:solidFill>
              </a:rPr>
              <a:t>: </a:t>
            </a:r>
            <a:r>
              <a:rPr sz="2400" dirty="0" err="1">
                <a:solidFill>
                  <a:schemeClr val="bg1"/>
                </a:solidFill>
              </a:rPr>
              <a:t>заголовок</a:t>
            </a:r>
            <a:r>
              <a:rPr sz="2400" dirty="0">
                <a:solidFill>
                  <a:schemeClr val="bg1"/>
                </a:solidFill>
              </a:rPr>
              <a:t>, </a:t>
            </a:r>
            <a:r>
              <a:rPr sz="2400" dirty="0" err="1">
                <a:solidFill>
                  <a:schemeClr val="bg1"/>
                </a:solidFill>
              </a:rPr>
              <a:t>стороны</a:t>
            </a:r>
            <a:r>
              <a:rPr sz="2400" dirty="0">
                <a:solidFill>
                  <a:schemeClr val="bg1"/>
                </a:solidFill>
              </a:rPr>
              <a:t> </a:t>
            </a:r>
            <a:r>
              <a:rPr sz="2400" dirty="0" err="1">
                <a:solidFill>
                  <a:schemeClr val="bg1"/>
                </a:solidFill>
              </a:rPr>
              <a:t>дела</a:t>
            </a:r>
            <a:r>
              <a:rPr sz="2400" dirty="0">
                <a:solidFill>
                  <a:schemeClr val="bg1"/>
                </a:solidFill>
              </a:rPr>
              <a:t>, </a:t>
            </a:r>
            <a:r>
              <a:rPr sz="2400" dirty="0" err="1">
                <a:solidFill>
                  <a:schemeClr val="bg1"/>
                </a:solidFill>
              </a:rPr>
              <a:t>судья</a:t>
            </a:r>
            <a:r>
              <a:rPr sz="2400" dirty="0">
                <a:solidFill>
                  <a:schemeClr val="bg1"/>
                </a:solidFill>
              </a:rPr>
              <a:t>, </a:t>
            </a:r>
            <a:r>
              <a:rPr sz="2400" dirty="0" err="1">
                <a:solidFill>
                  <a:schemeClr val="bg1"/>
                </a:solidFill>
              </a:rPr>
              <a:t>дата</a:t>
            </a:r>
            <a:r>
              <a:rPr sz="2400" dirty="0">
                <a:solidFill>
                  <a:schemeClr val="bg1"/>
                </a:solidFill>
              </a:rPr>
              <a:t>. Grounding: 0.45 → 0.90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111842"/>
            <a:ext cx="150876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88E5"/>
                </a:solidFill>
                <a:latin typeface="Calibri"/>
              </a:defRPr>
            </a:pPr>
            <a:r>
              <a:rPr sz="3300" dirty="0"/>
              <a:t>2. Reasoning on/off </a:t>
            </a:r>
            <a:r>
              <a:rPr sz="3300" dirty="0" err="1"/>
              <a:t>по</a:t>
            </a:r>
            <a:r>
              <a:rPr sz="3300" dirty="0"/>
              <a:t> </a:t>
            </a:r>
            <a:r>
              <a:rPr sz="3300" dirty="0" err="1"/>
              <a:t>типу</a:t>
            </a:r>
            <a:r>
              <a:rPr sz="3300" dirty="0"/>
              <a:t> </a:t>
            </a:r>
            <a:r>
              <a:rPr sz="3300" dirty="0" err="1"/>
              <a:t>вопроса</a:t>
            </a:r>
            <a:endParaRPr sz="3300" dirty="0"/>
          </a:p>
        </p:txBody>
      </p:sp>
      <p:sp>
        <p:nvSpPr>
          <p:cNvPr id="8" name="TextBox 7"/>
          <p:cNvSpPr txBox="1"/>
          <p:nvPr/>
        </p:nvSpPr>
        <p:spPr>
          <a:xfrm>
            <a:off x="1097280" y="4797643"/>
            <a:ext cx="15087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16161"/>
                </a:solidFill>
                <a:latin typeface="Calibri"/>
              </a:defRPr>
            </a:pPr>
            <a:r>
              <a:rPr sz="2400" dirty="0" err="1">
                <a:solidFill>
                  <a:schemeClr val="bg1"/>
                </a:solidFill>
              </a:rPr>
              <a:t>boolean</a:t>
            </a:r>
            <a:r>
              <a:rPr sz="2400" dirty="0">
                <a:solidFill>
                  <a:schemeClr val="bg1"/>
                </a:solidFill>
              </a:rPr>
              <a:t>, name, names → reasoning </a:t>
            </a:r>
            <a:r>
              <a:rPr sz="2400" dirty="0" err="1">
                <a:solidFill>
                  <a:schemeClr val="bg1"/>
                </a:solidFill>
              </a:rPr>
              <a:t>модель</a:t>
            </a:r>
            <a:r>
              <a:rPr sz="2400" dirty="0">
                <a:solidFill>
                  <a:schemeClr val="bg1"/>
                </a:solidFill>
              </a:rPr>
              <a:t> (</a:t>
            </a:r>
            <a:r>
              <a:rPr sz="2400" dirty="0" err="1">
                <a:solidFill>
                  <a:schemeClr val="bg1"/>
                </a:solidFill>
              </a:rPr>
              <a:t>точность</a:t>
            </a:r>
            <a:r>
              <a:rPr sz="2400" dirty="0">
                <a:solidFill>
                  <a:schemeClr val="bg1"/>
                </a:solidFill>
              </a:rPr>
              <a:t> +8-16%)</a:t>
            </a:r>
            <a:br>
              <a:rPr sz="2400" dirty="0">
                <a:solidFill>
                  <a:schemeClr val="bg1"/>
                </a:solidFill>
              </a:rPr>
            </a:br>
            <a:r>
              <a:rPr sz="2400" dirty="0">
                <a:solidFill>
                  <a:schemeClr val="bg1"/>
                </a:solidFill>
              </a:rPr>
              <a:t>date, number, </a:t>
            </a:r>
            <a:r>
              <a:rPr sz="2400" dirty="0" err="1">
                <a:solidFill>
                  <a:schemeClr val="bg1"/>
                </a:solidFill>
              </a:rPr>
              <a:t>free_text</a:t>
            </a:r>
            <a:r>
              <a:rPr sz="2400" dirty="0">
                <a:solidFill>
                  <a:schemeClr val="bg1"/>
                </a:solidFill>
              </a:rPr>
              <a:t> → non-reasoning (</a:t>
            </a:r>
            <a:r>
              <a:rPr sz="2400" dirty="0" err="1">
                <a:solidFill>
                  <a:schemeClr val="bg1"/>
                </a:solidFill>
              </a:rPr>
              <a:t>быстрее</a:t>
            </a:r>
            <a:r>
              <a:rPr sz="2400" dirty="0">
                <a:solidFill>
                  <a:schemeClr val="bg1"/>
                </a:solidFill>
              </a:rPr>
              <a:t>, </a:t>
            </a:r>
            <a:r>
              <a:rPr sz="2400" dirty="0" err="1">
                <a:solidFill>
                  <a:schemeClr val="bg1"/>
                </a:solidFill>
              </a:rPr>
              <a:t>не</a:t>
            </a:r>
            <a:r>
              <a:rPr sz="2400" dirty="0">
                <a:solidFill>
                  <a:schemeClr val="bg1"/>
                </a:solidFill>
              </a:rPr>
              <a:t> </a:t>
            </a:r>
            <a:r>
              <a:rPr sz="2400" dirty="0" err="1">
                <a:solidFill>
                  <a:schemeClr val="bg1"/>
                </a:solidFill>
              </a:rPr>
              <a:t>хуже</a:t>
            </a:r>
            <a:r>
              <a:rPr sz="24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894922"/>
            <a:ext cx="150876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8A00"/>
                </a:solidFill>
                <a:latin typeface="Calibri"/>
              </a:defRPr>
            </a:pPr>
            <a:r>
              <a:rPr sz="3300" dirty="0"/>
              <a:t>3. </a:t>
            </a:r>
            <a:r>
              <a:rPr sz="3300" dirty="0" err="1"/>
              <a:t>Одна</a:t>
            </a:r>
            <a:r>
              <a:rPr sz="3300" dirty="0"/>
              <a:t> </a:t>
            </a:r>
            <a:r>
              <a:rPr sz="3300" dirty="0" err="1"/>
              <a:t>строка</a:t>
            </a:r>
            <a:r>
              <a:rPr sz="3300" dirty="0"/>
              <a:t> </a:t>
            </a:r>
            <a:r>
              <a:rPr sz="3300" dirty="0" err="1"/>
              <a:t>в</a:t>
            </a:r>
            <a:r>
              <a:rPr sz="3300" dirty="0"/>
              <a:t> </a:t>
            </a:r>
            <a:r>
              <a:rPr sz="3300" dirty="0" err="1"/>
              <a:t>промпте</a:t>
            </a:r>
            <a:r>
              <a:rPr sz="3300" dirty="0"/>
              <a:t> = </a:t>
            </a:r>
            <a:r>
              <a:rPr sz="3300" dirty="0" err="1"/>
              <a:t>минус</a:t>
            </a:r>
            <a:r>
              <a:rPr sz="3300" dirty="0"/>
              <a:t> 26 </a:t>
            </a:r>
            <a:r>
              <a:rPr sz="3300" dirty="0" err="1"/>
              <a:t>ошибок</a:t>
            </a:r>
            <a:endParaRPr sz="3300" dirty="0"/>
          </a:p>
        </p:txBody>
      </p:sp>
      <p:sp>
        <p:nvSpPr>
          <p:cNvPr id="10" name="TextBox 9"/>
          <p:cNvSpPr txBox="1"/>
          <p:nvPr/>
        </p:nvSpPr>
        <p:spPr>
          <a:xfrm>
            <a:off x="1097280" y="6580722"/>
            <a:ext cx="15087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16161"/>
                </a:solidFill>
                <a:latin typeface="Calibri"/>
              </a:defRPr>
            </a:pPr>
            <a:r>
              <a:rPr sz="2400" dirty="0">
                <a:solidFill>
                  <a:schemeClr val="bg1"/>
                </a:solidFill>
              </a:rPr>
              <a:t>26 </a:t>
            </a:r>
            <a:r>
              <a:rPr sz="2400" dirty="0" err="1">
                <a:solidFill>
                  <a:schemeClr val="bg1"/>
                </a:solidFill>
              </a:rPr>
              <a:t>вопросов</a:t>
            </a:r>
            <a:r>
              <a:rPr sz="2400" dirty="0">
                <a:solidFill>
                  <a:schemeClr val="bg1"/>
                </a:solidFill>
              </a:rPr>
              <a:t> "</a:t>
            </a:r>
            <a:r>
              <a:rPr sz="2400" dirty="0" err="1">
                <a:solidFill>
                  <a:schemeClr val="bg1"/>
                </a:solidFill>
              </a:rPr>
              <a:t>Было</a:t>
            </a:r>
            <a:r>
              <a:rPr sz="2400" dirty="0">
                <a:solidFill>
                  <a:schemeClr val="bg1"/>
                </a:solidFill>
              </a:rPr>
              <a:t> </a:t>
            </a:r>
            <a:r>
              <a:rPr sz="2400" dirty="0" err="1">
                <a:solidFill>
                  <a:schemeClr val="bg1"/>
                </a:solidFill>
              </a:rPr>
              <a:t>ли</a:t>
            </a:r>
            <a:r>
              <a:rPr sz="2400" dirty="0">
                <a:solidFill>
                  <a:schemeClr val="bg1"/>
                </a:solidFill>
              </a:rPr>
              <a:t> </a:t>
            </a:r>
            <a:r>
              <a:rPr sz="2400" dirty="0" err="1">
                <a:solidFill>
                  <a:schemeClr val="bg1"/>
                </a:solidFill>
              </a:rPr>
              <a:t>дело</a:t>
            </a:r>
            <a:r>
              <a:rPr sz="2400" dirty="0">
                <a:solidFill>
                  <a:schemeClr val="bg1"/>
                </a:solidFill>
              </a:rPr>
              <a:t> </a:t>
            </a:r>
            <a:r>
              <a:rPr sz="2400" dirty="0" err="1">
                <a:solidFill>
                  <a:schemeClr val="bg1"/>
                </a:solidFill>
              </a:rPr>
              <a:t>обжаловано</a:t>
            </a:r>
            <a:r>
              <a:rPr sz="2400" dirty="0">
                <a:solidFill>
                  <a:schemeClr val="bg1"/>
                </a:solidFill>
              </a:rPr>
              <a:t>?" — </a:t>
            </a:r>
            <a:r>
              <a:rPr sz="2400" dirty="0" err="1">
                <a:solidFill>
                  <a:schemeClr val="bg1"/>
                </a:solidFill>
              </a:rPr>
              <a:t>отвечали</a:t>
            </a:r>
            <a:r>
              <a:rPr sz="2400" dirty="0">
                <a:solidFill>
                  <a:schemeClr val="bg1"/>
                </a:solidFill>
              </a:rPr>
              <a:t> </a:t>
            </a:r>
            <a:r>
              <a:rPr sz="2400" dirty="0" err="1">
                <a:solidFill>
                  <a:schemeClr val="bg1"/>
                </a:solidFill>
              </a:rPr>
              <a:t>Да</a:t>
            </a:r>
            <a:r>
              <a:rPr sz="2400" dirty="0">
                <a:solidFill>
                  <a:schemeClr val="bg1"/>
                </a:solidFill>
              </a:rPr>
              <a:t>,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sz="2400" dirty="0" err="1">
                <a:solidFill>
                  <a:schemeClr val="bg1"/>
                </a:solidFill>
              </a:rPr>
              <a:t>потому</a:t>
            </a:r>
            <a:r>
              <a:rPr sz="2400" dirty="0">
                <a:solidFill>
                  <a:schemeClr val="bg1"/>
                </a:solidFill>
              </a:rPr>
              <a:t> </a:t>
            </a:r>
            <a:r>
              <a:rPr sz="2400" dirty="0" err="1">
                <a:solidFill>
                  <a:schemeClr val="bg1"/>
                </a:solidFill>
              </a:rPr>
              <a:t>что</a:t>
            </a:r>
            <a:r>
              <a:rPr sz="2400" dirty="0">
                <a:solidFill>
                  <a:schemeClr val="bg1"/>
                </a:solidFill>
              </a:rPr>
              <a:t> </a:t>
            </a:r>
            <a:r>
              <a:rPr sz="2400" dirty="0" err="1">
                <a:solidFill>
                  <a:schemeClr val="bg1"/>
                </a:solidFill>
              </a:rPr>
              <a:t>видели</a:t>
            </a:r>
            <a:r>
              <a:rPr sz="2400" dirty="0">
                <a:solidFill>
                  <a:schemeClr val="bg1"/>
                </a:solidFill>
              </a:rPr>
              <a:t> "</a:t>
            </a:r>
            <a:r>
              <a:rPr sz="2400" dirty="0" err="1">
                <a:solidFill>
                  <a:schemeClr val="bg1"/>
                </a:solidFill>
              </a:rPr>
              <a:t>заявление</a:t>
            </a:r>
            <a:r>
              <a:rPr sz="2400" dirty="0">
                <a:solidFill>
                  <a:schemeClr val="bg1"/>
                </a:solidFill>
              </a:rPr>
              <a:t> </a:t>
            </a:r>
            <a:r>
              <a:rPr sz="2400" dirty="0" err="1">
                <a:solidFill>
                  <a:schemeClr val="bg1"/>
                </a:solidFill>
              </a:rPr>
              <a:t>на</a:t>
            </a:r>
            <a:r>
              <a:rPr sz="2400" dirty="0">
                <a:solidFill>
                  <a:schemeClr val="bg1"/>
                </a:solidFill>
              </a:rPr>
              <a:t> </a:t>
            </a:r>
            <a:r>
              <a:rPr sz="2400" dirty="0" err="1">
                <a:solidFill>
                  <a:schemeClr val="bg1"/>
                </a:solidFill>
              </a:rPr>
              <a:t>апелляцию</a:t>
            </a:r>
            <a:r>
              <a:rPr sz="2400" dirty="0">
                <a:solidFill>
                  <a:schemeClr val="bg1"/>
                </a:solidFill>
              </a:rPr>
              <a:t> </a:t>
            </a:r>
            <a:r>
              <a:rPr sz="2400" dirty="0" err="1">
                <a:solidFill>
                  <a:schemeClr val="bg1"/>
                </a:solidFill>
              </a:rPr>
              <a:t>подано</a:t>
            </a:r>
            <a:r>
              <a:rPr sz="2400" dirty="0">
                <a:solidFill>
                  <a:schemeClr val="bg1"/>
                </a:solidFill>
              </a:rPr>
              <a:t>".</a:t>
            </a:r>
            <a:br>
              <a:rPr sz="2400" dirty="0">
                <a:solidFill>
                  <a:schemeClr val="bg1"/>
                </a:solidFill>
              </a:rPr>
            </a:br>
            <a:r>
              <a:rPr sz="2400" dirty="0" err="1">
                <a:solidFill>
                  <a:schemeClr val="bg1"/>
                </a:solidFill>
              </a:rPr>
              <a:t>Упускали</a:t>
            </a:r>
            <a:r>
              <a:rPr sz="2400" dirty="0">
                <a:solidFill>
                  <a:schemeClr val="bg1"/>
                </a:solidFill>
              </a:rPr>
              <a:t> "</a:t>
            </a:r>
            <a:r>
              <a:rPr sz="2400" dirty="0" err="1">
                <a:solidFill>
                  <a:schemeClr val="bg1"/>
                </a:solidFill>
              </a:rPr>
              <a:t>в</a:t>
            </a:r>
            <a:r>
              <a:rPr sz="2400" dirty="0">
                <a:solidFill>
                  <a:schemeClr val="bg1"/>
                </a:solidFill>
              </a:rPr>
              <a:t> </a:t>
            </a:r>
            <a:r>
              <a:rPr sz="2400" dirty="0" err="1">
                <a:solidFill>
                  <a:schemeClr val="bg1"/>
                </a:solidFill>
              </a:rPr>
              <a:t>разрешении</a:t>
            </a:r>
            <a:r>
              <a:rPr sz="2400" dirty="0">
                <a:solidFill>
                  <a:schemeClr val="bg1"/>
                </a:solidFill>
              </a:rPr>
              <a:t> </a:t>
            </a:r>
            <a:r>
              <a:rPr sz="2400" dirty="0" err="1">
                <a:solidFill>
                  <a:schemeClr val="bg1"/>
                </a:solidFill>
              </a:rPr>
              <a:t>на</a:t>
            </a:r>
            <a:r>
              <a:rPr sz="2400" dirty="0">
                <a:solidFill>
                  <a:schemeClr val="bg1"/>
                </a:solidFill>
              </a:rPr>
              <a:t> </a:t>
            </a:r>
            <a:r>
              <a:rPr sz="2400" dirty="0" err="1">
                <a:solidFill>
                  <a:schemeClr val="bg1"/>
                </a:solidFill>
              </a:rPr>
              <a:t>апелляцию</a:t>
            </a:r>
            <a:r>
              <a:rPr sz="2400" dirty="0">
                <a:solidFill>
                  <a:schemeClr val="bg1"/>
                </a:solidFill>
              </a:rPr>
              <a:t> </a:t>
            </a:r>
            <a:r>
              <a:rPr sz="2400" dirty="0" err="1">
                <a:solidFill>
                  <a:schemeClr val="bg1"/>
                </a:solidFill>
              </a:rPr>
              <a:t>отказано</a:t>
            </a:r>
            <a:r>
              <a:rPr sz="2400" dirty="0">
                <a:solidFill>
                  <a:schemeClr val="bg1"/>
                </a:solidFill>
              </a:rPr>
              <a:t>".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sz="2400" dirty="0" err="1">
                <a:solidFill>
                  <a:schemeClr val="bg1"/>
                </a:solidFill>
              </a:rPr>
              <a:t>Одна</a:t>
            </a:r>
            <a:r>
              <a:rPr sz="2400" dirty="0">
                <a:solidFill>
                  <a:schemeClr val="bg1"/>
                </a:solidFill>
              </a:rPr>
              <a:t> </a:t>
            </a:r>
            <a:r>
              <a:rPr sz="2400" dirty="0" err="1">
                <a:solidFill>
                  <a:schemeClr val="bg1"/>
                </a:solidFill>
              </a:rPr>
              <a:t>строка</a:t>
            </a:r>
            <a:r>
              <a:rPr sz="2400" dirty="0">
                <a:solidFill>
                  <a:schemeClr val="bg1"/>
                </a:solidFill>
              </a:rPr>
              <a:t> </a:t>
            </a:r>
            <a:r>
              <a:rPr sz="2400" dirty="0" err="1">
                <a:solidFill>
                  <a:schemeClr val="bg1"/>
                </a:solidFill>
              </a:rPr>
              <a:t>в</a:t>
            </a:r>
            <a:r>
              <a:rPr sz="2400" dirty="0">
                <a:solidFill>
                  <a:schemeClr val="bg1"/>
                </a:solidFill>
              </a:rPr>
              <a:t> </a:t>
            </a:r>
            <a:r>
              <a:rPr sz="2400" dirty="0" err="1">
                <a:solidFill>
                  <a:schemeClr val="bg1"/>
                </a:solidFill>
              </a:rPr>
              <a:t>промпте</a:t>
            </a:r>
            <a:r>
              <a:rPr sz="2400" dirty="0">
                <a:solidFill>
                  <a:schemeClr val="bg1"/>
                </a:solidFill>
              </a:rPr>
              <a:t> </a:t>
            </a:r>
            <a:r>
              <a:rPr sz="2400" dirty="0" err="1">
                <a:solidFill>
                  <a:schemeClr val="bg1"/>
                </a:solidFill>
              </a:rPr>
              <a:t>всё</a:t>
            </a:r>
            <a:r>
              <a:rPr sz="2400" dirty="0">
                <a:solidFill>
                  <a:schemeClr val="bg1"/>
                </a:solidFill>
              </a:rPr>
              <a:t> </a:t>
            </a:r>
            <a:r>
              <a:rPr sz="2400" dirty="0" err="1">
                <a:solidFill>
                  <a:schemeClr val="bg1"/>
                </a:solidFill>
              </a:rPr>
              <a:t>починила</a:t>
            </a:r>
            <a:r>
              <a:rPr sz="2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8E90DF-423A-50A0-3F7D-CBE848C1DCF2}"/>
              </a:ext>
            </a:extLst>
          </p:cNvPr>
          <p:cNvSpPr txBox="1"/>
          <p:nvPr/>
        </p:nvSpPr>
        <p:spPr>
          <a:xfrm>
            <a:off x="1097280" y="7672922"/>
            <a:ext cx="150876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8A00"/>
                </a:solidFill>
                <a:latin typeface="Calibri"/>
              </a:defRPr>
            </a:pPr>
            <a:r>
              <a:rPr lang="en-US" sz="3300" dirty="0">
                <a:solidFill>
                  <a:schemeClr val="accent6">
                    <a:lumMod val="75000"/>
                  </a:schemeClr>
                </a:solidFill>
              </a:rPr>
              <a:t>4</a:t>
            </a:r>
            <a:r>
              <a:rPr sz="3300" dirty="0">
                <a:solidFill>
                  <a:schemeClr val="accent6">
                    <a:lumMod val="75000"/>
                  </a:schemeClr>
                </a:solidFill>
              </a:rPr>
              <a:t>. </a:t>
            </a:r>
            <a:r>
              <a:rPr lang="en-US" sz="3300" dirty="0">
                <a:solidFill>
                  <a:schemeClr val="accent6">
                    <a:lumMod val="75000"/>
                  </a:schemeClr>
                </a:solidFill>
              </a:rPr>
              <a:t>MORAG </a:t>
            </a:r>
            <a:r>
              <a:rPr lang="ru-RU" sz="3300" dirty="0">
                <a:solidFill>
                  <a:schemeClr val="accent6">
                    <a:lumMod val="75000"/>
                  </a:schemeClr>
                </a:solidFill>
              </a:rPr>
              <a:t>стал агентским</a:t>
            </a:r>
            <a:endParaRPr sz="33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F7C238-95B1-4DA4-5A12-97FBD6E73889}"/>
              </a:ext>
            </a:extLst>
          </p:cNvPr>
          <p:cNvSpPr txBox="1"/>
          <p:nvPr/>
        </p:nvSpPr>
        <p:spPr>
          <a:xfrm>
            <a:off x="1097280" y="8358722"/>
            <a:ext cx="15087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16161"/>
                </a:solidFill>
                <a:latin typeface="Calibri"/>
              </a:defRPr>
            </a:pPr>
            <a:r>
              <a:rPr lang="ru-RU" sz="2400" dirty="0">
                <a:solidFill>
                  <a:schemeClr val="bg1"/>
                </a:solidFill>
              </a:rPr>
              <a:t>Если модели не хватало информации для ответа, она делала уточняющие вопросы и искала дополнительную информацию.</a:t>
            </a:r>
            <a:endParaRPr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97280" y="1097280"/>
            <a:ext cx="15087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121"/>
                </a:solidFill>
                <a:latin typeface="Calibri"/>
              </a:defRPr>
            </a:pPr>
            <a:r>
              <a:rPr sz="6000" dirty="0">
                <a:solidFill>
                  <a:srgbClr val="4AD9FF"/>
                </a:solidFill>
              </a:rPr>
              <a:t>Eval-</a:t>
            </a:r>
            <a:r>
              <a:rPr sz="6000" dirty="0" err="1">
                <a:solidFill>
                  <a:srgbClr val="4AD9FF"/>
                </a:solidFill>
              </a:rPr>
              <a:t>система</a:t>
            </a:r>
            <a:r>
              <a:rPr sz="6000" dirty="0">
                <a:solidFill>
                  <a:schemeClr val="bg1"/>
                </a:solidFill>
              </a:rPr>
              <a:t>: </a:t>
            </a:r>
            <a:r>
              <a:rPr lang="ru-RU" sz="6000" dirty="0">
                <a:solidFill>
                  <a:schemeClr val="bg1"/>
                </a:solidFill>
              </a:rPr>
              <a:t>укажет путь </a:t>
            </a:r>
            <a:endParaRPr sz="60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2880360"/>
            <a:ext cx="15087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53935"/>
                </a:solidFill>
                <a:latin typeface="Calibri"/>
              </a:defRPr>
            </a:pPr>
            <a:r>
              <a:rPr sz="3000"/>
              <a:t>Проблема: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29001"/>
            <a:ext cx="150876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12121"/>
                </a:solidFill>
                <a:latin typeface="Calibri"/>
              </a:defRPr>
            </a:pPr>
            <a:r>
              <a:rPr sz="2700" dirty="0">
                <a:solidFill>
                  <a:schemeClr val="bg1"/>
                </a:solidFill>
              </a:rPr>
              <a:t>900 </a:t>
            </a:r>
            <a:r>
              <a:rPr sz="2700" dirty="0" err="1">
                <a:solidFill>
                  <a:schemeClr val="bg1"/>
                </a:solidFill>
              </a:rPr>
              <a:t>вопросов</a:t>
            </a:r>
            <a:r>
              <a:rPr sz="2700" dirty="0">
                <a:solidFill>
                  <a:schemeClr val="bg1"/>
                </a:solidFill>
              </a:rPr>
              <a:t>, 2 </a:t>
            </a:r>
            <a:r>
              <a:rPr sz="2700" dirty="0" err="1">
                <a:solidFill>
                  <a:schemeClr val="bg1"/>
                </a:solidFill>
              </a:rPr>
              <a:t>попытки</a:t>
            </a:r>
            <a:r>
              <a:rPr sz="2700" dirty="0">
                <a:solidFill>
                  <a:schemeClr val="bg1"/>
                </a:solidFill>
              </a:rPr>
              <a:t> </a:t>
            </a:r>
            <a:r>
              <a:rPr sz="2700" dirty="0" err="1">
                <a:solidFill>
                  <a:schemeClr val="bg1"/>
                </a:solidFill>
              </a:rPr>
              <a:t>сабмита</a:t>
            </a:r>
            <a:r>
              <a:rPr sz="2700" dirty="0">
                <a:solidFill>
                  <a:schemeClr val="bg1"/>
                </a:solidFill>
              </a:rPr>
              <a:t>. </a:t>
            </a:r>
            <a:r>
              <a:rPr sz="2700" dirty="0" err="1">
                <a:solidFill>
                  <a:schemeClr val="bg1"/>
                </a:solidFill>
              </a:rPr>
              <a:t>Как</a:t>
            </a:r>
            <a:r>
              <a:rPr sz="2700" dirty="0">
                <a:solidFill>
                  <a:schemeClr val="bg1"/>
                </a:solidFill>
              </a:rPr>
              <a:t> </a:t>
            </a:r>
            <a:r>
              <a:rPr sz="2700" dirty="0" err="1">
                <a:solidFill>
                  <a:schemeClr val="bg1"/>
                </a:solidFill>
              </a:rPr>
              <a:t>понять</a:t>
            </a:r>
            <a:r>
              <a:rPr sz="2700" dirty="0">
                <a:solidFill>
                  <a:schemeClr val="bg1"/>
                </a:solidFill>
              </a:rPr>
              <a:t> </a:t>
            </a:r>
            <a:r>
              <a:rPr sz="2700" dirty="0" err="1">
                <a:solidFill>
                  <a:schemeClr val="bg1"/>
                </a:solidFill>
              </a:rPr>
              <a:t>где</a:t>
            </a:r>
            <a:r>
              <a:rPr sz="2700" dirty="0">
                <a:solidFill>
                  <a:schemeClr val="bg1"/>
                </a:solidFill>
              </a:rPr>
              <a:t> </a:t>
            </a:r>
            <a:r>
              <a:rPr sz="2700" dirty="0" err="1">
                <a:solidFill>
                  <a:schemeClr val="bg1"/>
                </a:solidFill>
              </a:rPr>
              <a:t>ошибаемся</a:t>
            </a:r>
            <a:r>
              <a:rPr sz="2700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389120"/>
            <a:ext cx="15087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88"/>
                </a:solidFill>
                <a:latin typeface="Calibri"/>
              </a:defRPr>
            </a:pPr>
            <a:r>
              <a:rPr sz="3000"/>
              <a:t>Три уровня проверки: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68" y="4943118"/>
            <a:ext cx="11658600" cy="1269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12121"/>
                </a:solidFill>
                <a:latin typeface="Calibri"/>
              </a:defRPr>
            </a:pPr>
            <a:r>
              <a:rPr sz="2550" dirty="0" err="1">
                <a:solidFill>
                  <a:schemeClr val="bg1"/>
                </a:solidFill>
              </a:rPr>
              <a:t>Структурная</a:t>
            </a:r>
            <a:r>
              <a:rPr sz="2550" dirty="0">
                <a:solidFill>
                  <a:schemeClr val="bg1"/>
                </a:solidFill>
              </a:rPr>
              <a:t> — </a:t>
            </a:r>
            <a:r>
              <a:rPr sz="2550" dirty="0" err="1">
                <a:solidFill>
                  <a:schemeClr val="bg1"/>
                </a:solidFill>
              </a:rPr>
              <a:t>boolean</a:t>
            </a:r>
            <a:r>
              <a:rPr sz="2550" dirty="0">
                <a:solidFill>
                  <a:schemeClr val="bg1"/>
                </a:solidFill>
              </a:rPr>
              <a:t> = true/false? date </a:t>
            </a:r>
            <a:r>
              <a:rPr sz="2550" dirty="0" err="1">
                <a:solidFill>
                  <a:schemeClr val="bg1"/>
                </a:solidFill>
              </a:rPr>
              <a:t>в</a:t>
            </a:r>
            <a:r>
              <a:rPr sz="2550" dirty="0">
                <a:solidFill>
                  <a:schemeClr val="bg1"/>
                </a:solidFill>
              </a:rPr>
              <a:t> ISO? number — </a:t>
            </a:r>
            <a:r>
              <a:rPr sz="2550" dirty="0" err="1">
                <a:solidFill>
                  <a:schemeClr val="bg1"/>
                </a:solidFill>
              </a:rPr>
              <a:t>число</a:t>
            </a:r>
            <a:r>
              <a:rPr sz="2550" dirty="0">
                <a:solidFill>
                  <a:schemeClr val="bg1"/>
                </a:solidFill>
              </a:rPr>
              <a:t>?</a:t>
            </a:r>
            <a:endParaRPr lang="ru-RU" sz="2550" dirty="0">
              <a:solidFill>
                <a:schemeClr val="bg1"/>
              </a:solidFill>
            </a:endParaRPr>
          </a:p>
          <a:p>
            <a:pPr>
              <a:defRPr sz="1700" b="0">
                <a:solidFill>
                  <a:srgbClr val="212121"/>
                </a:solidFill>
                <a:latin typeface="Calibri"/>
              </a:defRPr>
            </a:pPr>
            <a:r>
              <a:rPr lang="es-419" sz="2550" dirty="0">
                <a:solidFill>
                  <a:schemeClr val="bg1"/>
                </a:solidFill>
              </a:rPr>
              <a:t>LLM-</a:t>
            </a:r>
            <a:r>
              <a:rPr lang="ru-RU" sz="2550" dirty="0">
                <a:solidFill>
                  <a:schemeClr val="bg1"/>
                </a:solidFill>
              </a:rPr>
              <a:t>правдоподобие — </a:t>
            </a:r>
            <a:r>
              <a:rPr lang="es-419" sz="2550" dirty="0">
                <a:solidFill>
                  <a:schemeClr val="bg1"/>
                </a:solidFill>
              </a:rPr>
              <a:t>Grok: "</a:t>
            </a:r>
            <a:r>
              <a:rPr lang="ru-RU" sz="2550" dirty="0">
                <a:solidFill>
                  <a:schemeClr val="bg1"/>
                </a:solidFill>
              </a:rPr>
              <a:t>это похоже на правду?"</a:t>
            </a:r>
          </a:p>
          <a:p>
            <a:pPr>
              <a:defRPr sz="1700" b="0">
                <a:solidFill>
                  <a:srgbClr val="212121"/>
                </a:solidFill>
                <a:latin typeface="Calibri"/>
              </a:defRPr>
            </a:pPr>
            <a:r>
              <a:rPr lang="ru-RU" sz="2550" dirty="0">
                <a:solidFill>
                  <a:schemeClr val="bg1"/>
                </a:solidFill>
              </a:rPr>
              <a:t>Соответствие документам — правильные страницы? не перепутал дела?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7132320"/>
            <a:ext cx="6858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2121"/>
                </a:solidFill>
                <a:latin typeface="Calibri"/>
              </a:defRPr>
            </a:pPr>
            <a:r>
              <a:rPr sz="2700" dirty="0" err="1">
                <a:solidFill>
                  <a:schemeClr val="bg1"/>
                </a:solidFill>
              </a:rPr>
              <a:t>Результат</a:t>
            </a:r>
            <a:r>
              <a:rPr sz="2700" dirty="0">
                <a:solidFill>
                  <a:schemeClr val="bg1"/>
                </a:solidFill>
              </a:rPr>
              <a:t>: gold</a:t>
            </a:r>
            <a:r>
              <a:rPr lang="en-US" sz="2700" dirty="0">
                <a:solidFill>
                  <a:schemeClr val="bg1"/>
                </a:solidFill>
              </a:rPr>
              <a:t> set</a:t>
            </a:r>
            <a:endParaRPr sz="27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719368" y="8908353"/>
            <a:ext cx="53705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68A00"/>
                </a:solidFill>
                <a:latin typeface="Calibri"/>
              </a:defRPr>
            </a:pPr>
            <a:r>
              <a:rPr sz="3600" dirty="0" err="1"/>
              <a:t>Стоимость</a:t>
            </a:r>
            <a:r>
              <a:rPr sz="3600" dirty="0"/>
              <a:t> </a:t>
            </a:r>
            <a:r>
              <a:rPr sz="3600" dirty="0" err="1"/>
              <a:t>прогона</a:t>
            </a:r>
            <a:r>
              <a:rPr sz="3600" dirty="0"/>
              <a:t>:</a:t>
            </a:r>
            <a:br>
              <a:rPr sz="3600" dirty="0"/>
            </a:br>
            <a:r>
              <a:rPr sz="3600" dirty="0"/>
              <a:t>$0.21 </a:t>
            </a:r>
            <a:r>
              <a:rPr sz="3600" dirty="0" err="1"/>
              <a:t>на</a:t>
            </a:r>
            <a:r>
              <a:rPr sz="3600" dirty="0"/>
              <a:t> 900 </a:t>
            </a:r>
            <a:r>
              <a:rPr sz="3600" dirty="0" err="1"/>
              <a:t>вопросов</a:t>
            </a:r>
            <a:endParaRPr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97280" y="1097281"/>
            <a:ext cx="53797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121"/>
                </a:solidFill>
                <a:latin typeface="Calibri"/>
              </a:defRPr>
            </a:pPr>
            <a:r>
              <a:rPr sz="6000" dirty="0">
                <a:solidFill>
                  <a:schemeClr val="bg1"/>
                </a:solidFill>
              </a:rPr>
              <a:t>Eval </a:t>
            </a:r>
            <a:r>
              <a:rPr sz="6000" dirty="0">
                <a:solidFill>
                  <a:srgbClr val="4AD9FF"/>
                </a:solidFill>
              </a:rPr>
              <a:t>Dashboard</a:t>
            </a:r>
          </a:p>
        </p:txBody>
      </p:sp>
      <p:pic>
        <p:nvPicPr>
          <p:cNvPr id="2" name="Google Shape;103;g3d3637b674e_0_77">
            <a:extLst>
              <a:ext uri="{FF2B5EF4-FFF2-40B4-BE49-F238E27FC236}">
                <a16:creationId xmlns:a16="http://schemas.microsoft.com/office/drawing/2014/main" id="{9326B127-2691-B4B5-282B-73178250BE9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6537960" y="227472"/>
            <a:ext cx="9646920" cy="973831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BD51B0C-E087-8277-D49B-CA9CD687D12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8038763" y="9396413"/>
            <a:ext cx="249237" cy="276225"/>
          </a:xfrm>
        </p:spPr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0CE7FF-9CFC-8FC5-B9EE-D93E660A8957}"/>
              </a:ext>
            </a:extLst>
          </p:cNvPr>
          <p:cNvSpPr txBox="1"/>
          <p:nvPr/>
        </p:nvSpPr>
        <p:spPr>
          <a:xfrm>
            <a:off x="1097280" y="8179415"/>
            <a:ext cx="5379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9688"/>
                </a:solidFill>
                <a:latin typeface="Calibri"/>
              </a:defRPr>
            </a:pPr>
            <a:r>
              <a:rPr sz="2400" dirty="0" err="1"/>
              <a:t>Демо</a:t>
            </a:r>
            <a:r>
              <a:rPr sz="2400" dirty="0"/>
              <a:t>: </a:t>
            </a:r>
            <a:r>
              <a:rPr lang="es-419" sz="2400" dirty="0"/>
              <a:t>https://eval.catonmoon.com/</a:t>
            </a:r>
            <a:endParaRPr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97280" y="1097281"/>
            <a:ext cx="15087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121"/>
                </a:solidFill>
                <a:latin typeface="Calibri"/>
              </a:defRPr>
            </a:pPr>
            <a:r>
              <a:rPr sz="6000" dirty="0">
                <a:solidFill>
                  <a:schemeClr val="bg1"/>
                </a:solidFill>
              </a:rPr>
              <a:t>MORAG </a:t>
            </a:r>
            <a:r>
              <a:rPr sz="6000" dirty="0">
                <a:solidFill>
                  <a:srgbClr val="4AD9FF"/>
                </a:solidFill>
              </a:rPr>
              <a:t>vs</a:t>
            </a:r>
            <a:r>
              <a:rPr sz="6000" dirty="0">
                <a:solidFill>
                  <a:schemeClr val="bg1"/>
                </a:solidFill>
              </a:rPr>
              <a:t> Golden </a:t>
            </a:r>
            <a:r>
              <a:rPr lang="en-US" sz="6000" dirty="0">
                <a:solidFill>
                  <a:schemeClr val="bg1"/>
                </a:solidFill>
              </a:rPr>
              <a:t>Set</a:t>
            </a:r>
            <a:r>
              <a:rPr sz="6000" dirty="0">
                <a:solidFill>
                  <a:schemeClr val="bg1"/>
                </a:solidFill>
              </a:rPr>
              <a:t> (</a:t>
            </a:r>
            <a:r>
              <a:rPr sz="6000" dirty="0" err="1">
                <a:solidFill>
                  <a:schemeClr val="bg1"/>
                </a:solidFill>
              </a:rPr>
              <a:t>финал</a:t>
            </a:r>
            <a:r>
              <a:rPr sz="6000" dirty="0">
                <a:solidFill>
                  <a:schemeClr val="bg1"/>
                </a:solidFill>
              </a:rPr>
              <a:t>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3017520"/>
          <a:ext cx="1069848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120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2300"/>
                        <a:t>Метрика</a:t>
                      </a:r>
                    </a:p>
                  </a:txBody>
                  <a:tcPr marL="137160" marR="137160" marT="68580" marB="68580"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2300"/>
                        <a:t>MORAG</a:t>
                      </a:r>
                    </a:p>
                  </a:txBody>
                  <a:tcPr marL="137160" marR="137160" marT="68580" marB="68580"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2300"/>
                        <a:t>Golden (ручной)</a:t>
                      </a:r>
                    </a:p>
                  </a:txBody>
                  <a:tcPr marL="137160" marR="137160" marT="68580" marB="68580"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sz="2300"/>
                        <a:t>Кто лучше?</a:t>
                      </a:r>
                    </a:p>
                  </a:txBody>
                  <a:tcPr marL="137160" marR="137160" marT="68580" marB="68580">
                    <a:solidFill>
                      <a:srgbClr val="0096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300"/>
                        <a:t>S_det (точность)</a:t>
                      </a:r>
                    </a:p>
                  </a:txBody>
                  <a:tcPr marL="137160" marR="137160" marT="68580" marB="68580"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300"/>
                        <a:t>0.877</a:t>
                      </a:r>
                    </a:p>
                  </a:txBody>
                  <a:tcPr marL="137160" marR="137160" marT="68580" marB="68580"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300"/>
                        <a:t>0.872</a:t>
                      </a:r>
                    </a:p>
                  </a:txBody>
                  <a:tcPr marL="137160" marR="137160" marT="68580" marB="68580"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300"/>
                        <a:t>MORAG</a:t>
                      </a:r>
                    </a:p>
                  </a:txBody>
                  <a:tcPr marL="137160" marR="137160" marT="68580" marB="68580"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300"/>
                        <a:t>S_asst (free_text)</a:t>
                      </a:r>
                    </a:p>
                  </a:txBody>
                  <a:tcPr marL="137160" marR="137160" marT="68580" marB="6858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300"/>
                        <a:t>0.760</a:t>
                      </a:r>
                    </a:p>
                  </a:txBody>
                  <a:tcPr marL="137160" marR="137160" marT="68580" marB="6858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300"/>
                        <a:t>0.713</a:t>
                      </a:r>
                    </a:p>
                  </a:txBody>
                  <a:tcPr marL="137160" marR="137160" marT="68580" marB="6858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300"/>
                        <a:t>MORAG</a:t>
                      </a:r>
                    </a:p>
                  </a:txBody>
                  <a:tcPr marL="137160" marR="137160" marT="68580" marB="68580">
                    <a:solidFill>
                      <a:srgbClr val="F5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300"/>
                        <a:t>G (Grounding)</a:t>
                      </a:r>
                    </a:p>
                  </a:txBody>
                  <a:tcPr marL="137160" marR="137160" marT="68580" marB="68580"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300" dirty="0"/>
                        <a:t>0.728</a:t>
                      </a:r>
                    </a:p>
                  </a:txBody>
                  <a:tcPr marL="137160" marR="137160" marT="68580" marB="68580"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300"/>
                        <a:t>0.788</a:t>
                      </a:r>
                    </a:p>
                  </a:txBody>
                  <a:tcPr marL="137160" marR="137160" marT="68580" marB="68580"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300"/>
                        <a:t>Golden</a:t>
                      </a:r>
                    </a:p>
                  </a:txBody>
                  <a:tcPr marL="137160" marR="137160" marT="68580" marB="68580"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300"/>
                        <a:t>F (скорость)</a:t>
                      </a:r>
                    </a:p>
                  </a:txBody>
                  <a:tcPr marL="137160" marR="137160" marT="68580" marB="6858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300"/>
                        <a:t>0.985</a:t>
                      </a:r>
                    </a:p>
                  </a:txBody>
                  <a:tcPr marL="137160" marR="137160" marT="68580" marB="6858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300"/>
                        <a:t>0.971</a:t>
                      </a:r>
                    </a:p>
                  </a:txBody>
                  <a:tcPr marL="137160" marR="137160" marT="68580" marB="68580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300"/>
                        <a:t>MORAG</a:t>
                      </a:r>
                    </a:p>
                  </a:txBody>
                  <a:tcPr marL="137160" marR="137160" marT="68580" marB="68580">
                    <a:solidFill>
                      <a:srgbClr val="F5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300"/>
                        <a:t>Total</a:t>
                      </a:r>
                    </a:p>
                  </a:txBody>
                  <a:tcPr marL="137160" marR="137160" marT="68580" marB="68580"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300"/>
                        <a:t>0.603</a:t>
                      </a:r>
                    </a:p>
                  </a:txBody>
                  <a:tcPr marL="137160" marR="137160" marT="68580" marB="68580"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300"/>
                        <a:t>0.631</a:t>
                      </a:r>
                    </a:p>
                  </a:txBody>
                  <a:tcPr marL="137160" marR="137160" marT="68580" marB="68580"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rPr sz="2300" dirty="0"/>
                        <a:t>Golden</a:t>
                      </a:r>
                    </a:p>
                  </a:txBody>
                  <a:tcPr marL="137160" marR="137160" marT="68580" marB="68580"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" y="7132320"/>
            <a:ext cx="1508760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8A00"/>
                </a:solidFill>
                <a:latin typeface="Calibri"/>
              </a:defRPr>
            </a:pPr>
            <a:r>
              <a:rPr sz="2700"/>
              <a:t>RAG-система превзошла ручные ответы по 3 из 5 метрик!</a:t>
            </a:r>
            <a:br>
              <a:rPr sz="2700"/>
            </a:br>
            <a:r>
              <a:rPr sz="2700"/>
              <a:t>Golden выиграл только по Grounding — это задача привязки к страницам,</a:t>
            </a:r>
            <a:br>
              <a:rPr sz="2700"/>
            </a:br>
            <a:r>
              <a:rPr sz="2700"/>
              <a:t>а не качество ответов.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DCB7A29-9874-E541-23E8-7EB8741AD08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8038763" y="9396413"/>
            <a:ext cx="249237" cy="276225"/>
          </a:xfrm>
        </p:spPr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315594" y="4635668"/>
            <a:ext cx="56568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2121"/>
                </a:solidFill>
                <a:latin typeface="Calibri"/>
              </a:defRPr>
            </a:pPr>
            <a:r>
              <a:rPr lang="en-US" sz="6000" dirty="0">
                <a:solidFill>
                  <a:srgbClr val="4AD9FF"/>
                </a:solidFill>
              </a:rPr>
              <a:t>Key </a:t>
            </a:r>
            <a:r>
              <a:rPr lang="en-US" sz="6000" dirty="0">
                <a:solidFill>
                  <a:schemeClr val="bg1"/>
                </a:solidFill>
              </a:rPr>
              <a:t>Take Aways</a:t>
            </a:r>
            <a:endParaRPr sz="60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C932954-4617-FFCD-D4F8-3DA763EF2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3"/>
          <p:cNvSpPr txBox="1">
            <a:spLocks noGrp="1"/>
          </p:cNvSpPr>
          <p:nvPr>
            <p:ph type="title" idx="4294967295"/>
          </p:nvPr>
        </p:nvSpPr>
        <p:spPr>
          <a:xfrm>
            <a:off x="1581150" y="1474788"/>
            <a:ext cx="10356850" cy="10969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0" tIns="34275" rIns="68570" bIns="34275" rtlCol="0" anchor="t" anchorCtr="0">
            <a:normAutofit/>
          </a:bodyPr>
          <a:lstStyle/>
          <a:p>
            <a:r>
              <a:rPr lang="ru-RU" sz="6000" b="1" dirty="0">
                <a:solidFill>
                  <a:srgbClr val="4AD9FF"/>
                </a:solidFill>
                <a:latin typeface="+mn-lt"/>
              </a:rPr>
              <a:t>Нет </a:t>
            </a:r>
            <a:r>
              <a:rPr lang="ru-RU" sz="6000" b="1" dirty="0">
                <a:solidFill>
                  <a:schemeClr val="bg1"/>
                </a:solidFill>
                <a:latin typeface="+mn-lt"/>
              </a:rPr>
              <a:t>универсального</a:t>
            </a:r>
            <a:r>
              <a:rPr lang="ru-RU" sz="6000" b="1" dirty="0">
                <a:solidFill>
                  <a:srgbClr val="4AD9FF"/>
                </a:solidFill>
                <a:latin typeface="+mn-lt"/>
              </a:rPr>
              <a:t> </a:t>
            </a:r>
            <a:r>
              <a:rPr lang="ru-RU" sz="6000" b="1" dirty="0">
                <a:solidFill>
                  <a:schemeClr val="bg1"/>
                </a:solidFill>
                <a:latin typeface="+mn-lt"/>
              </a:rPr>
              <a:t>RAG</a:t>
            </a:r>
            <a:endParaRPr sz="60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Google Shape;51;p34">
            <a:extLst>
              <a:ext uri="{FF2B5EF4-FFF2-40B4-BE49-F238E27FC236}">
                <a16:creationId xmlns:a16="http://schemas.microsoft.com/office/drawing/2014/main" id="{5C7B41A6-E13E-B179-1A1B-4C72C1AF8B0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52450" y="2933700"/>
            <a:ext cx="8267700" cy="681988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0" tIns="34275" rIns="68570" bIns="34275" rtlCol="0" anchor="t" anchorCtr="0">
            <a:noAutofit/>
          </a:bodyPr>
          <a:lstStyle/>
          <a:p>
            <a:pPr>
              <a:spcBef>
                <a:spcPts val="900"/>
              </a:spcBef>
              <a:buClr>
                <a:srgbClr val="4AD9FF"/>
              </a:buClr>
              <a:buSzPts val="3000"/>
            </a:pPr>
            <a:r>
              <a:rPr lang="ru-RU" b="1" dirty="0">
                <a:solidFill>
                  <a:schemeClr val="bg1"/>
                </a:solidFill>
              </a:rPr>
              <a:t>Корпоративные базы знаний </a:t>
            </a:r>
            <a:endParaRPr b="1" dirty="0">
              <a:solidFill>
                <a:schemeClr val="bg1"/>
              </a:solidFill>
            </a:endParaRPr>
          </a:p>
          <a:p>
            <a:pPr marL="180975" indent="0">
              <a:spcBef>
                <a:spcPts val="1800"/>
              </a:spcBef>
              <a:buClr>
                <a:srgbClr val="4AD9FF"/>
              </a:buClr>
              <a:buSzPts val="2800"/>
              <a:buNone/>
            </a:pPr>
            <a:r>
              <a:rPr lang="ru-RU" sz="2000" dirty="0">
                <a:solidFill>
                  <a:schemeClr val="bg1"/>
                </a:solidFill>
                <a:latin typeface="+mj-lt"/>
              </a:rPr>
              <a:t>Чат-бот по внутренней документации компании: HR-политики, технические регламенты, инструкции. Сотрудник спрашивает — система ищет в </a:t>
            </a:r>
            <a:r>
              <a:rPr lang="ru-RU" sz="2000" dirty="0" err="1">
                <a:solidFill>
                  <a:schemeClr val="bg1"/>
                </a:solidFill>
                <a:latin typeface="+mj-lt"/>
              </a:rPr>
              <a:t>Confluence</a:t>
            </a:r>
            <a:r>
              <a:rPr lang="ru-RU" sz="2000" dirty="0">
                <a:solidFill>
                  <a:schemeClr val="bg1"/>
                </a:solidFill>
                <a:latin typeface="+mj-lt"/>
              </a:rPr>
              <a:t>/</a:t>
            </a:r>
            <a:r>
              <a:rPr lang="ru-RU" sz="2000" dirty="0" err="1">
                <a:solidFill>
                  <a:schemeClr val="bg1"/>
                </a:solidFill>
                <a:latin typeface="+mj-lt"/>
              </a:rPr>
              <a:t>Notion</a:t>
            </a:r>
            <a:r>
              <a:rPr lang="ru-RU" sz="2000" dirty="0">
                <a:solidFill>
                  <a:schemeClr val="bg1"/>
                </a:solidFill>
                <a:latin typeface="+mj-lt"/>
              </a:rPr>
              <a:t> и отвечает со ссылкой на источник.</a:t>
            </a:r>
            <a:endParaRPr sz="2000" dirty="0">
              <a:solidFill>
                <a:schemeClr val="bg1"/>
              </a:solidFill>
              <a:latin typeface="+mj-lt"/>
            </a:endParaRPr>
          </a:p>
          <a:p>
            <a:pPr>
              <a:spcBef>
                <a:spcPts val="1800"/>
              </a:spcBef>
              <a:buClr>
                <a:srgbClr val="4AD9FF"/>
              </a:buClr>
              <a:buSzPts val="3000"/>
            </a:pPr>
            <a:r>
              <a:rPr lang="ru-RU" b="1" dirty="0">
                <a:solidFill>
                  <a:schemeClr val="bg1"/>
                </a:solidFill>
              </a:rPr>
              <a:t>Поддержка клиентов</a:t>
            </a:r>
            <a:endParaRPr b="1" dirty="0">
              <a:solidFill>
                <a:schemeClr val="bg1"/>
              </a:solidFill>
            </a:endParaRPr>
          </a:p>
          <a:p>
            <a:pPr marL="180975" indent="0">
              <a:spcBef>
                <a:spcPts val="1800"/>
              </a:spcBef>
              <a:buClr>
                <a:srgbClr val="4AD9FF"/>
              </a:buClr>
              <a:buSzPts val="2800"/>
              <a:buNone/>
            </a:pPr>
            <a:r>
              <a:rPr lang="ru-RU" sz="2000" dirty="0">
                <a:solidFill>
                  <a:schemeClr val="bg1"/>
                </a:solidFill>
                <a:latin typeface="+mj-lt"/>
              </a:rPr>
              <a:t>Автоматические ответы на основе базы FAQ, истории </a:t>
            </a:r>
            <a:r>
              <a:rPr lang="ru-RU" sz="2000" dirty="0" err="1">
                <a:solidFill>
                  <a:schemeClr val="bg1"/>
                </a:solidFill>
                <a:latin typeface="+mj-lt"/>
              </a:rPr>
              <a:t>тикетов</a:t>
            </a:r>
            <a:r>
              <a:rPr lang="ru-RU" sz="2000" dirty="0">
                <a:solidFill>
                  <a:schemeClr val="bg1"/>
                </a:solidFill>
                <a:latin typeface="+mj-lt"/>
              </a:rPr>
              <a:t> и документации продукта. Система не галлюцинирует, а ссылается на реальные статьи.</a:t>
            </a:r>
            <a:endParaRPr sz="2000" dirty="0">
              <a:solidFill>
                <a:schemeClr val="bg1"/>
              </a:solidFill>
              <a:latin typeface="+mj-lt"/>
            </a:endParaRPr>
          </a:p>
          <a:p>
            <a:pPr>
              <a:spcBef>
                <a:spcPts val="1800"/>
              </a:spcBef>
              <a:buClr>
                <a:srgbClr val="4AD9FF"/>
              </a:buClr>
              <a:buSzPts val="3000"/>
            </a:pPr>
            <a:r>
              <a:rPr lang="ru-RU" b="1" dirty="0">
                <a:solidFill>
                  <a:schemeClr val="bg1"/>
                </a:solidFill>
              </a:rPr>
              <a:t>Образование</a:t>
            </a:r>
            <a:endParaRPr b="1" dirty="0">
              <a:solidFill>
                <a:schemeClr val="bg1"/>
              </a:solidFill>
            </a:endParaRPr>
          </a:p>
          <a:p>
            <a:pPr marL="180975" indent="0">
              <a:lnSpc>
                <a:spcPct val="110000"/>
              </a:lnSpc>
              <a:spcBef>
                <a:spcPts val="1800"/>
              </a:spcBef>
              <a:buClr>
                <a:srgbClr val="4AD9FF"/>
              </a:buClr>
              <a:buSzPts val="2800"/>
              <a:buNone/>
            </a:pPr>
            <a:r>
              <a:rPr lang="ru-RU" sz="2000" dirty="0">
                <a:solidFill>
                  <a:schemeClr val="bg1"/>
                </a:solidFill>
                <a:latin typeface="+mj-lt"/>
              </a:rPr>
              <a:t>Персональный тьютор по учебным материалам курса — отвечает только по загруженным лекциям и учебникам, не "фантазирует".</a:t>
            </a:r>
            <a:endParaRPr sz="2000" dirty="0">
              <a:solidFill>
                <a:schemeClr val="bg1"/>
              </a:solidFill>
              <a:latin typeface="+mj-lt"/>
            </a:endParaRPr>
          </a:p>
          <a:p>
            <a:pPr>
              <a:spcBef>
                <a:spcPts val="1800"/>
              </a:spcBef>
              <a:buClr>
                <a:srgbClr val="4AD9FF"/>
              </a:buClr>
              <a:buSzPts val="3000"/>
            </a:pPr>
            <a:r>
              <a:rPr lang="ru-RU" b="1" dirty="0">
                <a:solidFill>
                  <a:schemeClr val="bg1"/>
                </a:solidFill>
              </a:rPr>
              <a:t>Медицина и фармацевтика</a:t>
            </a:r>
            <a:endParaRPr b="1" dirty="0">
              <a:solidFill>
                <a:schemeClr val="bg1"/>
              </a:solidFill>
            </a:endParaRPr>
          </a:p>
          <a:p>
            <a:pPr marL="180975" indent="0">
              <a:lnSpc>
                <a:spcPct val="120000"/>
              </a:lnSpc>
              <a:spcBef>
                <a:spcPts val="1800"/>
              </a:spcBef>
              <a:spcAft>
                <a:spcPts val="900"/>
              </a:spcAft>
              <a:buClr>
                <a:srgbClr val="4AD9FF"/>
              </a:buClr>
              <a:buSzPts val="2800"/>
              <a:buNone/>
            </a:pPr>
            <a:r>
              <a:rPr lang="ru-RU" sz="2000" dirty="0">
                <a:solidFill>
                  <a:schemeClr val="bg1"/>
                </a:solidFill>
                <a:latin typeface="+mj-lt"/>
              </a:rPr>
              <a:t>Поиск по клиническим протоколам, исследованиям, лекарственным взаимодействиям. Критично, что ответ подкреплён конкретным источником.</a:t>
            </a:r>
            <a:endParaRPr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Google Shape;53;p34">
            <a:extLst>
              <a:ext uri="{FF2B5EF4-FFF2-40B4-BE49-F238E27FC236}">
                <a16:creationId xmlns:a16="http://schemas.microsoft.com/office/drawing/2014/main" id="{0CF16DA9-B359-7985-8B03-99D5E441CBE4}"/>
              </a:ext>
            </a:extLst>
          </p:cNvPr>
          <p:cNvSpPr txBox="1"/>
          <p:nvPr/>
        </p:nvSpPr>
        <p:spPr>
          <a:xfrm>
            <a:off x="9144000" y="2933700"/>
            <a:ext cx="8070750" cy="7081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0" tIns="34275" rIns="68570" bIns="34275" anchor="t" anchorCtr="0">
            <a:normAutofit fontScale="92500" lnSpcReduction="20000"/>
          </a:bodyPr>
          <a:lstStyle/>
          <a:p>
            <a:pPr marL="628650" indent="-457200">
              <a:spcBef>
                <a:spcPts val="900"/>
              </a:spcBef>
              <a:buClr>
                <a:srgbClr val="4AD9FF"/>
              </a:buClr>
              <a:buSzPts val="3000"/>
              <a:buFont typeface="Arial" panose="020B0604020202020204" pitchFamily="34" charset="0"/>
              <a:buChar char="•"/>
            </a:pPr>
            <a:r>
              <a:rPr lang="ru-RU" sz="3000" b="1" dirty="0">
                <a:solidFill>
                  <a:schemeClr val="bg1"/>
                </a:solidFill>
                <a:ea typeface="Arial"/>
                <a:cs typeface="Arial"/>
                <a:sym typeface="Arial"/>
              </a:rPr>
              <a:t>Юридические и комплаенс-системы</a:t>
            </a:r>
            <a:endParaRPr sz="3000" b="1" dirty="0">
              <a:solidFill>
                <a:schemeClr val="bg1"/>
              </a:solidFill>
              <a:ea typeface="Arial"/>
              <a:cs typeface="Arial"/>
              <a:sym typeface="Arial"/>
            </a:endParaRPr>
          </a:p>
          <a:p>
            <a:pPr marL="180975">
              <a:spcBef>
                <a:spcPts val="1800"/>
              </a:spcBef>
              <a:buClr>
                <a:srgbClr val="4AD9FF"/>
              </a:buClr>
              <a:buSzPts val="2800"/>
            </a:pPr>
            <a:r>
              <a:rPr lang="ru-RU" sz="2400" dirty="0">
                <a:solidFill>
                  <a:schemeClr val="bg1"/>
                </a:solidFill>
                <a:latin typeface="+mj-lt"/>
                <a:ea typeface="Arial"/>
                <a:cs typeface="Arial"/>
                <a:sym typeface="Arial"/>
              </a:rPr>
              <a:t>Поиск по договорам, законодательству, судебной практике. Юрист задаёт вопрос — система находит релевантные параграфы из тысяч документов.</a:t>
            </a:r>
            <a:endParaRPr sz="2400" dirty="0">
              <a:solidFill>
                <a:schemeClr val="bg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628650" indent="-457200">
              <a:spcBef>
                <a:spcPts val="1800"/>
              </a:spcBef>
              <a:buClr>
                <a:srgbClr val="4AD9FF"/>
              </a:buClr>
              <a:buSzPts val="3000"/>
              <a:buFont typeface="Arial" panose="020B0604020202020204" pitchFamily="34" charset="0"/>
              <a:buChar char="•"/>
            </a:pPr>
            <a:r>
              <a:rPr lang="ru-RU" sz="3000" b="1" dirty="0">
                <a:solidFill>
                  <a:schemeClr val="bg1"/>
                </a:solidFill>
                <a:ea typeface="Arial"/>
                <a:cs typeface="Arial"/>
                <a:sym typeface="Arial"/>
              </a:rPr>
              <a:t>Разработка ПО</a:t>
            </a:r>
            <a:endParaRPr sz="3000" b="1" dirty="0">
              <a:solidFill>
                <a:schemeClr val="bg1"/>
              </a:solidFill>
              <a:ea typeface="Arial"/>
              <a:cs typeface="Arial"/>
              <a:sym typeface="Arial"/>
            </a:endParaRPr>
          </a:p>
          <a:p>
            <a:pPr marL="180975">
              <a:spcBef>
                <a:spcPts val="1800"/>
              </a:spcBef>
              <a:buClr>
                <a:srgbClr val="4AD9FF"/>
              </a:buClr>
              <a:buSzPts val="2800"/>
            </a:pPr>
            <a:r>
              <a:rPr lang="ru-RU" sz="2400" dirty="0">
                <a:solidFill>
                  <a:schemeClr val="bg1"/>
                </a:solidFill>
                <a:latin typeface="+mj-lt"/>
                <a:ea typeface="Arial"/>
                <a:cs typeface="Arial"/>
                <a:sym typeface="Arial"/>
              </a:rPr>
              <a:t>Чат по кодовой базе: "как работает этот модуль?", "где обрабатывается эта ошибка?". Система индексирует репозиторий и отвечает с точными ссылками на файлы.</a:t>
            </a:r>
            <a:endParaRPr sz="2400" dirty="0">
              <a:solidFill>
                <a:schemeClr val="bg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628650" indent="-457200">
              <a:spcBef>
                <a:spcPts val="1800"/>
              </a:spcBef>
              <a:buClr>
                <a:srgbClr val="4AD9FF"/>
              </a:buClr>
              <a:buSzPts val="3000"/>
              <a:buFont typeface="Arial" panose="020B0604020202020204" pitchFamily="34" charset="0"/>
              <a:buChar char="•"/>
            </a:pPr>
            <a:r>
              <a:rPr lang="ru-RU" sz="3000" b="1" dirty="0">
                <a:solidFill>
                  <a:schemeClr val="bg1"/>
                </a:solidFill>
                <a:ea typeface="Arial"/>
                <a:cs typeface="Arial"/>
                <a:sym typeface="Arial"/>
              </a:rPr>
              <a:t>Финансовый анализ </a:t>
            </a:r>
            <a:endParaRPr sz="3000" b="1" dirty="0">
              <a:solidFill>
                <a:schemeClr val="bg1"/>
              </a:solidFill>
              <a:ea typeface="Arial"/>
              <a:cs typeface="Arial"/>
              <a:sym typeface="Arial"/>
            </a:endParaRPr>
          </a:p>
          <a:p>
            <a:pPr marL="180975">
              <a:lnSpc>
                <a:spcPct val="120000"/>
              </a:lnSpc>
              <a:spcBef>
                <a:spcPts val="1800"/>
              </a:spcBef>
              <a:buClr>
                <a:srgbClr val="4AD9FF"/>
              </a:buClr>
              <a:buSzPts val="2800"/>
            </a:pPr>
            <a:r>
              <a:rPr lang="ru-RU" sz="2400" dirty="0">
                <a:solidFill>
                  <a:schemeClr val="bg1"/>
                </a:solidFill>
                <a:latin typeface="+mj-lt"/>
                <a:ea typeface="Arial"/>
                <a:cs typeface="Arial"/>
                <a:sym typeface="Arial"/>
              </a:rPr>
              <a:t>Работа с отчётностью, аналитическими отчётами, новостями. Аналитик спрашивает про компанию — система поднимает последние отчёты.</a:t>
            </a:r>
            <a:endParaRPr sz="2400" dirty="0">
              <a:solidFill>
                <a:schemeClr val="bg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628650" indent="-457200">
              <a:spcBef>
                <a:spcPts val="1800"/>
              </a:spcBef>
              <a:buClr>
                <a:srgbClr val="4AD9FF"/>
              </a:buClr>
              <a:buSzPts val="3000"/>
              <a:buFont typeface="Arial" panose="020B0604020202020204" pitchFamily="34" charset="0"/>
              <a:buChar char="•"/>
            </a:pPr>
            <a:r>
              <a:rPr lang="ru-RU" sz="3000" b="1" dirty="0" err="1">
                <a:solidFill>
                  <a:schemeClr val="bg1"/>
                </a:solidFill>
                <a:ea typeface="Arial"/>
                <a:cs typeface="Arial"/>
                <a:sym typeface="Arial"/>
              </a:rPr>
              <a:t>e-commerce</a:t>
            </a:r>
            <a:r>
              <a:rPr lang="ru-RU" sz="3000" b="1" dirty="0">
                <a:solidFill>
                  <a:schemeClr val="bg1"/>
                </a:solidFill>
                <a:ea typeface="Arial"/>
                <a:cs typeface="Arial"/>
                <a:sym typeface="Arial"/>
              </a:rPr>
              <a:t> / </a:t>
            </a:r>
            <a:r>
              <a:rPr lang="ru-RU" sz="3000" b="1" dirty="0" err="1">
                <a:solidFill>
                  <a:schemeClr val="bg1"/>
                </a:solidFill>
                <a:ea typeface="Arial"/>
                <a:cs typeface="Arial"/>
                <a:sym typeface="Arial"/>
              </a:rPr>
              <a:t>retail</a:t>
            </a:r>
            <a:endParaRPr sz="3000" b="1" dirty="0">
              <a:solidFill>
                <a:schemeClr val="bg1"/>
              </a:solidFill>
              <a:ea typeface="Arial"/>
              <a:cs typeface="Arial"/>
              <a:sym typeface="Arial"/>
            </a:endParaRPr>
          </a:p>
          <a:p>
            <a:pPr marL="180975">
              <a:lnSpc>
                <a:spcPct val="110000"/>
              </a:lnSpc>
              <a:spcBef>
                <a:spcPts val="1800"/>
              </a:spcBef>
              <a:buClr>
                <a:srgbClr val="4AD9FF"/>
              </a:buClr>
              <a:buSzPts val="2800"/>
            </a:pPr>
            <a:r>
              <a:rPr lang="ru-RU" sz="2400" dirty="0">
                <a:solidFill>
                  <a:schemeClr val="bg1"/>
                </a:solidFill>
                <a:latin typeface="+mj-lt"/>
                <a:ea typeface="Arial"/>
                <a:cs typeface="Arial"/>
                <a:sym typeface="Arial"/>
              </a:rPr>
              <a:t>Поиск по каталогу товаров с учётом контекста запроса: "нужен ноутбук для видеомонтажа до 100к" → система ищет по характеристикам и генерирует персональную рекомендацию.</a:t>
            </a:r>
            <a:endParaRPr sz="2400" dirty="0">
              <a:solidFill>
                <a:schemeClr val="bg1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0806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3"/>
          <p:cNvSpPr txBox="1">
            <a:spLocks noGrp="1"/>
          </p:cNvSpPr>
          <p:nvPr>
            <p:ph type="title" idx="4294967295"/>
          </p:nvPr>
        </p:nvSpPr>
        <p:spPr>
          <a:xfrm>
            <a:off x="1219200" y="1227138"/>
            <a:ext cx="10356850" cy="14589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0" tIns="34275" rIns="68570" bIns="34275" rtlCol="0" anchor="t" anchorCtr="0">
            <a:normAutofit/>
          </a:bodyPr>
          <a:lstStyle/>
          <a:p>
            <a:r>
              <a:rPr lang="ru-RU" sz="6000" b="1" dirty="0">
                <a:solidFill>
                  <a:schemeClr val="bg1"/>
                </a:solidFill>
                <a:latin typeface="+mn-lt"/>
              </a:rPr>
              <a:t>Цикл </a:t>
            </a:r>
            <a:r>
              <a:rPr lang="ru-RU" sz="6000" b="1" dirty="0">
                <a:solidFill>
                  <a:srgbClr val="4AD9FF"/>
                </a:solidFill>
                <a:latin typeface="+mn-lt"/>
              </a:rPr>
              <a:t>разработки</a:t>
            </a:r>
            <a:r>
              <a:rPr lang="ru-RU" sz="6000" b="1" dirty="0">
                <a:solidFill>
                  <a:schemeClr val="bg1"/>
                </a:solidFill>
                <a:latin typeface="+mn-lt"/>
              </a:rPr>
              <a:t> RAG</a:t>
            </a:r>
            <a:endParaRPr sz="60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Google Shape;51;p34">
            <a:extLst>
              <a:ext uri="{FF2B5EF4-FFF2-40B4-BE49-F238E27FC236}">
                <a16:creationId xmlns:a16="http://schemas.microsoft.com/office/drawing/2014/main" id="{5C7B41A6-E13E-B179-1A1B-4C72C1AF8B0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842883" y="2298700"/>
            <a:ext cx="13569950" cy="77676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0" tIns="34275" rIns="68570" bIns="34275" rtlCol="0" anchor="t" anchorCtr="0">
            <a:normAutofit lnSpcReduction="10000"/>
          </a:bodyPr>
          <a:lstStyle/>
          <a:p>
            <a:pPr>
              <a:lnSpc>
                <a:spcPct val="150000"/>
              </a:lnSpc>
              <a:spcBef>
                <a:spcPts val="900"/>
              </a:spcBef>
              <a:buClr>
                <a:srgbClr val="4AD9FF"/>
              </a:buClr>
              <a:buFont typeface="+mj-lt"/>
              <a:buAutoNum type="arabicPeriod"/>
            </a:pPr>
            <a:r>
              <a:rPr lang="ru-RU" sz="2700" b="1" u="sng" dirty="0">
                <a:solidFill>
                  <a:schemeClr val="bg1"/>
                </a:solidFill>
              </a:rPr>
              <a:t>Делаем </a:t>
            </a:r>
            <a:r>
              <a:rPr lang="es-419" sz="2700" b="1" u="sng" dirty="0">
                <a:solidFill>
                  <a:schemeClr val="bg1"/>
                </a:solidFill>
              </a:rPr>
              <a:t>RAG v.1</a:t>
            </a:r>
          </a:p>
          <a:p>
            <a:pPr>
              <a:lnSpc>
                <a:spcPct val="150000"/>
              </a:lnSpc>
              <a:buClr>
                <a:srgbClr val="4AD9FF"/>
              </a:buClr>
              <a:buSzPct val="100000"/>
              <a:buFont typeface="+mj-lt"/>
              <a:buAutoNum type="arabicPeriod"/>
            </a:pPr>
            <a:r>
              <a:rPr lang="ru-RU" sz="2700" b="1" dirty="0">
                <a:solidFill>
                  <a:schemeClr val="bg1"/>
                </a:solidFill>
              </a:rPr>
              <a:t>Генерируем вопросы к документам, такие, которые будут задавать пользователи</a:t>
            </a:r>
          </a:p>
          <a:p>
            <a:pPr>
              <a:lnSpc>
                <a:spcPct val="150000"/>
              </a:lnSpc>
              <a:buClr>
                <a:srgbClr val="4AD9FF"/>
              </a:buClr>
              <a:buSzPct val="100000"/>
              <a:buFont typeface="+mj-lt"/>
              <a:buAutoNum type="arabicPeriod"/>
            </a:pPr>
            <a:r>
              <a:rPr lang="ru-RU" sz="2700" b="1" dirty="0">
                <a:solidFill>
                  <a:schemeClr val="bg1"/>
                </a:solidFill>
              </a:rPr>
              <a:t>Генерируем золотые ответы на вопросы и ссылки на документы</a:t>
            </a:r>
          </a:p>
          <a:p>
            <a:pPr>
              <a:lnSpc>
                <a:spcPct val="150000"/>
              </a:lnSpc>
              <a:buClr>
                <a:srgbClr val="4AD9FF"/>
              </a:buClr>
              <a:buSzPct val="100000"/>
              <a:buFont typeface="+mj-lt"/>
              <a:buAutoNum type="arabicPeriod"/>
            </a:pPr>
            <a:r>
              <a:rPr lang="ru-RU" sz="2700" b="1" dirty="0">
                <a:solidFill>
                  <a:schemeClr val="bg1"/>
                </a:solidFill>
              </a:rPr>
              <a:t>Запускаем </a:t>
            </a:r>
            <a:r>
              <a:rPr lang="es-419" sz="2700" b="1" dirty="0">
                <a:solidFill>
                  <a:schemeClr val="bg1"/>
                </a:solidFill>
              </a:rPr>
              <a:t>RAG</a:t>
            </a:r>
          </a:p>
          <a:p>
            <a:pPr>
              <a:buClr>
                <a:srgbClr val="4AD9FF"/>
              </a:buClr>
              <a:buSzPct val="100000"/>
              <a:buFont typeface="+mj-lt"/>
              <a:buAutoNum type="arabicPeriod"/>
            </a:pPr>
            <a:endParaRPr lang="es-419" sz="27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spcBef>
                <a:spcPts val="1800"/>
              </a:spcBef>
              <a:buClr>
                <a:srgbClr val="4AD9FF"/>
              </a:buClr>
              <a:buFont typeface="+mj-lt"/>
              <a:buAutoNum type="arabicPeriod"/>
            </a:pPr>
            <a:r>
              <a:rPr lang="ru-RU" sz="2700" b="1" dirty="0">
                <a:solidFill>
                  <a:schemeClr val="bg1"/>
                </a:solidFill>
              </a:rPr>
              <a:t>Оцениваем </a:t>
            </a:r>
            <a:r>
              <a:rPr lang="es-419" sz="2700" b="1" dirty="0">
                <a:solidFill>
                  <a:schemeClr val="bg1"/>
                </a:solidFill>
              </a:rPr>
              <a:t>RAG</a:t>
            </a:r>
          </a:p>
          <a:p>
            <a:pPr>
              <a:lnSpc>
                <a:spcPct val="150000"/>
              </a:lnSpc>
              <a:buClr>
                <a:srgbClr val="4AD9FF"/>
              </a:buClr>
              <a:buSzPct val="100000"/>
              <a:buFont typeface="+mj-lt"/>
              <a:buAutoNum type="arabicPeriod"/>
            </a:pPr>
            <a:r>
              <a:rPr lang="ru-RU" sz="2700" b="1" u="sng" dirty="0">
                <a:solidFill>
                  <a:schemeClr val="bg1"/>
                </a:solidFill>
              </a:rPr>
              <a:t>Делаем </a:t>
            </a:r>
            <a:r>
              <a:rPr lang="es-419" sz="2700" b="1" u="sng" dirty="0">
                <a:solidFill>
                  <a:schemeClr val="bg1"/>
                </a:solidFill>
              </a:rPr>
              <a:t>RAG v.2</a:t>
            </a:r>
          </a:p>
          <a:p>
            <a:pPr marL="857250">
              <a:buClr>
                <a:srgbClr val="4AD9FF"/>
              </a:buClr>
              <a:buFont typeface="+mj-lt"/>
              <a:buAutoNum type="arabicPeriod"/>
            </a:pPr>
            <a:endParaRPr lang="es-419" sz="27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spcBef>
                <a:spcPts val="1800"/>
              </a:spcBef>
              <a:buClr>
                <a:srgbClr val="4AD9FF"/>
              </a:buClr>
              <a:buFont typeface="+mj-lt"/>
              <a:buAutoNum type="arabicPeriod"/>
            </a:pPr>
            <a:r>
              <a:rPr lang="ru-RU" sz="2700" b="1" dirty="0">
                <a:solidFill>
                  <a:schemeClr val="bg1"/>
                </a:solidFill>
              </a:rPr>
              <a:t>Даём </a:t>
            </a:r>
            <a:r>
              <a:rPr lang="es-419" sz="2700" b="1" dirty="0">
                <a:solidFill>
                  <a:schemeClr val="bg1"/>
                </a:solidFill>
              </a:rPr>
              <a:t>RAG </a:t>
            </a:r>
            <a:r>
              <a:rPr lang="ru-RU" sz="2700" b="1" dirty="0">
                <a:solidFill>
                  <a:schemeClr val="bg1"/>
                </a:solidFill>
              </a:rPr>
              <a:t>пользователям с возможностью оценки и обратной связи</a:t>
            </a:r>
          </a:p>
          <a:p>
            <a:pPr>
              <a:lnSpc>
                <a:spcPct val="150000"/>
              </a:lnSpc>
              <a:buClr>
                <a:srgbClr val="4AD9FF"/>
              </a:buClr>
              <a:buSzPct val="100000"/>
              <a:buFont typeface="+mj-lt"/>
              <a:buAutoNum type="arabicPeriod"/>
            </a:pPr>
            <a:r>
              <a:rPr lang="ru-RU" sz="2700" b="1" dirty="0">
                <a:solidFill>
                  <a:schemeClr val="bg1"/>
                </a:solidFill>
              </a:rPr>
              <a:t>Смотрим статистику использования</a:t>
            </a:r>
          </a:p>
          <a:p>
            <a:pPr>
              <a:lnSpc>
                <a:spcPct val="150000"/>
              </a:lnSpc>
              <a:buClr>
                <a:srgbClr val="4AD9FF"/>
              </a:buClr>
              <a:buSzPct val="100000"/>
              <a:buFont typeface="+mj-lt"/>
              <a:buAutoNum type="arabicPeriod"/>
            </a:pPr>
            <a:r>
              <a:rPr lang="ru-RU" sz="2700" b="1" u="sng" dirty="0">
                <a:solidFill>
                  <a:schemeClr val="bg1"/>
                </a:solidFill>
              </a:rPr>
              <a:t>Делаем </a:t>
            </a:r>
            <a:r>
              <a:rPr lang="es-419" sz="2700" b="1" u="sng" dirty="0">
                <a:solidFill>
                  <a:schemeClr val="bg1"/>
                </a:solidFill>
              </a:rPr>
              <a:t>RAG v.3</a:t>
            </a:r>
          </a:p>
        </p:txBody>
      </p:sp>
      <p:sp>
        <p:nvSpPr>
          <p:cNvPr id="7" name="Выгнутая влево стрелка 6">
            <a:extLst>
              <a:ext uri="{FF2B5EF4-FFF2-40B4-BE49-F238E27FC236}">
                <a16:creationId xmlns:a16="http://schemas.microsoft.com/office/drawing/2014/main" id="{271E1777-21D5-9D70-4236-EC08AE296046}"/>
              </a:ext>
            </a:extLst>
          </p:cNvPr>
          <p:cNvSpPr/>
          <p:nvPr/>
        </p:nvSpPr>
        <p:spPr>
          <a:xfrm>
            <a:off x="395301" y="5261599"/>
            <a:ext cx="2784321" cy="2530403"/>
          </a:xfrm>
          <a:prstGeom prst="curvedRightArrow">
            <a:avLst>
              <a:gd name="adj1" fmla="val 6213"/>
              <a:gd name="adj2" fmla="val 13797"/>
              <a:gd name="adj3" fmla="val 25000"/>
            </a:avLst>
          </a:prstGeom>
          <a:solidFill>
            <a:srgbClr val="019CE3">
              <a:alpha val="0"/>
            </a:srgb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  <p:sp>
        <p:nvSpPr>
          <p:cNvPr id="4" name="Выгнутая влево стрелка 3">
            <a:extLst>
              <a:ext uri="{FF2B5EF4-FFF2-40B4-BE49-F238E27FC236}">
                <a16:creationId xmlns:a16="http://schemas.microsoft.com/office/drawing/2014/main" id="{F2270A91-38E2-0C1F-6CCD-4967A8F615EC}"/>
              </a:ext>
            </a:extLst>
          </p:cNvPr>
          <p:cNvSpPr/>
          <p:nvPr/>
        </p:nvSpPr>
        <p:spPr>
          <a:xfrm rot="10800000">
            <a:off x="3803305" y="5147299"/>
            <a:ext cx="2784321" cy="2530403"/>
          </a:xfrm>
          <a:prstGeom prst="curvedRightArrow">
            <a:avLst>
              <a:gd name="adj1" fmla="val 6213"/>
              <a:gd name="adj2" fmla="val 13797"/>
              <a:gd name="adj3" fmla="val 25000"/>
            </a:avLst>
          </a:prstGeom>
          <a:solidFill>
            <a:srgbClr val="019CE3">
              <a:alpha val="0"/>
            </a:srgb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8633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/>
        </p:nvSpPr>
        <p:spPr>
          <a:xfrm>
            <a:off x="1171857" y="1454383"/>
            <a:ext cx="11381850" cy="97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>
              <a:lnSpc>
                <a:spcPct val="90000"/>
              </a:lnSpc>
              <a:buClr>
                <a:schemeClr val="lt1"/>
              </a:buClr>
              <a:buSzPts val="6000"/>
            </a:pPr>
            <a:r>
              <a:rPr lang="ru-RU" sz="6000" b="1" dirty="0">
                <a:solidFill>
                  <a:srgbClr val="4AD9FF"/>
                </a:solidFill>
                <a:ea typeface="Arial"/>
                <a:cs typeface="Arial"/>
                <a:sym typeface="Arial"/>
              </a:rPr>
              <a:t>Golden</a:t>
            </a:r>
            <a:r>
              <a:rPr lang="ru-RU" sz="6000" b="1" dirty="0">
                <a:solidFill>
                  <a:schemeClr val="dk2"/>
                </a:solidFill>
                <a:ea typeface="Arial"/>
                <a:cs typeface="Arial"/>
                <a:sym typeface="Arial"/>
              </a:rPr>
              <a:t> </a:t>
            </a:r>
            <a:r>
              <a:rPr lang="ru-RU" sz="6000" b="1" dirty="0" err="1">
                <a:solidFill>
                  <a:schemeClr val="bg1"/>
                </a:solidFill>
                <a:ea typeface="Arial"/>
                <a:cs typeface="Arial"/>
                <a:sym typeface="Arial"/>
              </a:rPr>
              <a:t>Q</a:t>
            </a:r>
            <a:r>
              <a:rPr lang="ru-RU" sz="6000" b="1" dirty="0">
                <a:solidFill>
                  <a:schemeClr val="bg1"/>
                </a:solidFill>
                <a:ea typeface="Arial"/>
                <a:cs typeface="Arial"/>
                <a:sym typeface="Arial"/>
              </a:rPr>
              <a:t> + </a:t>
            </a:r>
            <a:r>
              <a:rPr lang="ru-RU" sz="6000" b="1" dirty="0" err="1">
                <a:solidFill>
                  <a:schemeClr val="bg1"/>
                </a:solidFill>
                <a:ea typeface="Arial"/>
                <a:cs typeface="Arial"/>
                <a:sym typeface="Arial"/>
              </a:rPr>
              <a:t>A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842958" y="3795324"/>
            <a:ext cx="8888400" cy="4780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marL="28575" algn="just">
              <a:spcBef>
                <a:spcPts val="750"/>
              </a:spcBef>
              <a:buClr>
                <a:schemeClr val="lt1"/>
              </a:buClr>
              <a:buSzPts val="3000"/>
            </a:pPr>
            <a:r>
              <a:rPr lang="ru-RU" sz="2800" dirty="0">
                <a:solidFill>
                  <a:srgbClr val="4AD9FF"/>
                </a:solidFill>
                <a:ea typeface="Arial"/>
                <a:cs typeface="Arial"/>
                <a:sym typeface="Arial"/>
              </a:rPr>
              <a:t>Шаг</a:t>
            </a:r>
            <a:r>
              <a:rPr lang="ru-RU" sz="2800" dirty="0">
                <a:solidFill>
                  <a:schemeClr val="bg1"/>
                </a:solidFill>
                <a:ea typeface="Arial"/>
                <a:cs typeface="Arial"/>
                <a:sym typeface="Arial"/>
              </a:rPr>
              <a:t> 1 — описывает документ (автор, тема, тип, о чём) через LLM для контекста формулировки вопросов</a:t>
            </a:r>
            <a:endParaRPr sz="2800" dirty="0">
              <a:solidFill>
                <a:schemeClr val="bg1"/>
              </a:solidFill>
              <a:ea typeface="Arial"/>
              <a:cs typeface="Arial"/>
              <a:sym typeface="Arial"/>
            </a:endParaRPr>
          </a:p>
          <a:p>
            <a:pPr marL="342900" indent="-171450" algn="just">
              <a:buClr>
                <a:schemeClr val="lt1"/>
              </a:buClr>
              <a:buSzPts val="3000"/>
            </a:pPr>
            <a:endParaRPr sz="2800" dirty="0">
              <a:solidFill>
                <a:schemeClr val="bg1"/>
              </a:solidFill>
              <a:ea typeface="Arial"/>
              <a:cs typeface="Arial"/>
              <a:sym typeface="Arial"/>
            </a:endParaRPr>
          </a:p>
          <a:p>
            <a:pPr marL="28575" algn="just">
              <a:buClr>
                <a:schemeClr val="lt1"/>
              </a:buClr>
              <a:buSzPts val="3000"/>
            </a:pPr>
            <a:r>
              <a:rPr lang="ru-RU" sz="2800" dirty="0">
                <a:solidFill>
                  <a:srgbClr val="4AD9FF"/>
                </a:solidFill>
                <a:ea typeface="Arial"/>
                <a:cs typeface="Arial"/>
                <a:sym typeface="Arial"/>
              </a:rPr>
              <a:t>Шаг</a:t>
            </a:r>
            <a:r>
              <a:rPr lang="ru-RU" sz="2800" dirty="0">
                <a:solidFill>
                  <a:schemeClr val="bg1"/>
                </a:solidFill>
                <a:ea typeface="Arial"/>
                <a:cs typeface="Arial"/>
                <a:sym typeface="Arial"/>
              </a:rPr>
              <a:t> 2 — генерирует :</a:t>
            </a:r>
            <a:endParaRPr sz="2800" dirty="0">
              <a:solidFill>
                <a:schemeClr val="bg1"/>
              </a:solidFill>
              <a:ea typeface="Arial"/>
              <a:cs typeface="Arial"/>
              <a:sym typeface="Arial"/>
            </a:endParaRPr>
          </a:p>
          <a:p>
            <a:pPr marL="685800" lvl="1" indent="-314325" algn="just">
              <a:buClr>
                <a:schemeClr val="dk2"/>
              </a:buClr>
              <a:buSzPts val="3000"/>
              <a:buFont typeface="Roboto"/>
              <a:buChar char="○"/>
            </a:pPr>
            <a:r>
              <a:rPr lang="ru-RU" sz="2800" dirty="0">
                <a:solidFill>
                  <a:schemeClr val="bg1"/>
                </a:solidFill>
                <a:ea typeface="Arial"/>
                <a:cs typeface="Arial"/>
                <a:sym typeface="Arial"/>
              </a:rPr>
              <a:t>вопрос, идентифицирующий работу (автор + тема)</a:t>
            </a:r>
            <a:endParaRPr sz="2800" dirty="0">
              <a:solidFill>
                <a:schemeClr val="bg1"/>
              </a:solidFill>
              <a:ea typeface="Arial"/>
              <a:cs typeface="Arial"/>
              <a:sym typeface="Arial"/>
            </a:endParaRPr>
          </a:p>
          <a:p>
            <a:pPr marL="685800" lvl="1" indent="-314325" algn="just">
              <a:buClr>
                <a:schemeClr val="dk2"/>
              </a:buClr>
              <a:buSzPts val="3000"/>
              <a:buFont typeface="Roboto"/>
              <a:buChar char="○"/>
            </a:pPr>
            <a:r>
              <a:rPr lang="ru-RU" sz="2800" dirty="0">
                <a:solidFill>
                  <a:schemeClr val="bg1"/>
                </a:solidFill>
                <a:ea typeface="Arial"/>
                <a:cs typeface="Arial"/>
                <a:sym typeface="Arial"/>
              </a:rPr>
              <a:t>развёрнутый ответ</a:t>
            </a:r>
            <a:endParaRPr sz="2800" dirty="0">
              <a:solidFill>
                <a:schemeClr val="bg1"/>
              </a:solidFill>
            </a:endParaRPr>
          </a:p>
          <a:p>
            <a:pPr marL="685800" lvl="1" indent="-314325" algn="just">
              <a:buClr>
                <a:schemeClr val="dk2"/>
              </a:buClr>
              <a:buSzPts val="3000"/>
              <a:buFont typeface="Roboto"/>
              <a:buChar char="○"/>
            </a:pPr>
            <a:r>
              <a:rPr lang="ru-RU" sz="2800" dirty="0">
                <a:solidFill>
                  <a:schemeClr val="bg1"/>
                </a:solidFill>
                <a:ea typeface="Arial"/>
                <a:cs typeface="Arial"/>
                <a:sym typeface="Arial"/>
              </a:rPr>
              <a:t>ссылку — дословную цитату из текста с ответом</a:t>
            </a:r>
            <a:endParaRPr sz="2800" dirty="0">
              <a:solidFill>
                <a:schemeClr val="bg1"/>
              </a:solidFill>
              <a:ea typeface="Arial"/>
              <a:cs typeface="Arial"/>
              <a:sym typeface="Arial"/>
            </a:endParaRPr>
          </a:p>
          <a:p>
            <a:pPr marL="685800">
              <a:spcBef>
                <a:spcPts val="750"/>
              </a:spcBef>
              <a:buClr>
                <a:srgbClr val="000000"/>
              </a:buClr>
              <a:buSzPts val="3000"/>
            </a:pPr>
            <a:endParaRPr sz="2800" dirty="0">
              <a:solidFill>
                <a:schemeClr val="bg1"/>
              </a:solidFill>
              <a:ea typeface="Arial"/>
              <a:cs typeface="Arial"/>
              <a:sym typeface="Arial"/>
            </a:endParaRPr>
          </a:p>
          <a:p>
            <a:pPr>
              <a:spcBef>
                <a:spcPts val="750"/>
              </a:spcBef>
              <a:spcAft>
                <a:spcPts val="150"/>
              </a:spcAft>
              <a:buClr>
                <a:srgbClr val="000000"/>
              </a:buClr>
              <a:buSzPts val="3000"/>
            </a:pPr>
            <a:r>
              <a:rPr lang="ru-RU" sz="2800" dirty="0">
                <a:solidFill>
                  <a:schemeClr val="bg1"/>
                </a:solidFill>
                <a:ea typeface="Arial"/>
                <a:cs typeface="Arial"/>
                <a:sym typeface="Arial"/>
              </a:rPr>
              <a:t>Большие файлы бьёт на </a:t>
            </a:r>
            <a:r>
              <a:rPr lang="ru-RU" sz="2800" dirty="0" err="1">
                <a:solidFill>
                  <a:schemeClr val="bg1"/>
                </a:solidFill>
                <a:ea typeface="Arial"/>
                <a:cs typeface="Arial"/>
                <a:sym typeface="Arial"/>
              </a:rPr>
              <a:t>чанки</a:t>
            </a:r>
            <a:r>
              <a:rPr lang="ru-RU" sz="2800" dirty="0">
                <a:solidFill>
                  <a:schemeClr val="bg1"/>
                </a:solidFill>
                <a:ea typeface="Arial"/>
                <a:cs typeface="Arial"/>
                <a:sym typeface="Arial"/>
              </a:rPr>
              <a:t>, вопросы распределяет пропорционально размеру </a:t>
            </a:r>
            <a:r>
              <a:rPr lang="ru-RU" sz="2800" dirty="0" err="1">
                <a:solidFill>
                  <a:schemeClr val="bg1"/>
                </a:solidFill>
                <a:ea typeface="Arial"/>
                <a:cs typeface="Arial"/>
                <a:sym typeface="Arial"/>
              </a:rPr>
              <a:t>чанка</a:t>
            </a:r>
            <a:r>
              <a:rPr lang="ru-RU" sz="2800" dirty="0">
                <a:solidFill>
                  <a:schemeClr val="bg1"/>
                </a:solidFill>
                <a:ea typeface="Arial"/>
                <a:cs typeface="Arial"/>
                <a:sym typeface="Arial"/>
              </a:rPr>
              <a:t>.</a:t>
            </a:r>
            <a:endParaRPr sz="2800" dirty="0">
              <a:solidFill>
                <a:schemeClr val="bg1"/>
              </a:solidFill>
              <a:ea typeface="Courier New"/>
              <a:cs typeface="Courier New"/>
              <a:sym typeface="Courier New"/>
            </a:endParaRPr>
          </a:p>
        </p:txBody>
      </p:sp>
      <p:pic>
        <p:nvPicPr>
          <p:cNvPr id="136" name="Google Shape;136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00459" y="998072"/>
            <a:ext cx="2164331" cy="216433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8"/>
          <p:cNvSpPr txBox="1"/>
          <p:nvPr/>
        </p:nvSpPr>
        <p:spPr>
          <a:xfrm>
            <a:off x="10441349" y="3162403"/>
            <a:ext cx="7013925" cy="427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>
              <a:buClr>
                <a:srgbClr val="000000"/>
              </a:buClr>
              <a:buSzPts val="2500"/>
            </a:pPr>
            <a:r>
              <a:rPr lang="ru-RU" sz="1875" b="1" u="sng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https://github.com/RussianNLP/DRAGON/tree/main</a:t>
            </a:r>
            <a:r>
              <a:rPr lang="ru-RU" sz="1875" b="1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875" b="1" dirty="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842958" y="9355819"/>
            <a:ext cx="10901250" cy="572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750"/>
              </a:spcAft>
              <a:buClr>
                <a:srgbClr val="000000"/>
              </a:buClr>
              <a:buSzPts val="2500"/>
            </a:pPr>
            <a:r>
              <a:rPr lang="ru-RU" sz="1875" b="1" u="sng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https://github.com/catonmoon/rag-leaderboard/blob/master/utils/md_to_qa.py</a:t>
            </a:r>
            <a:endParaRPr sz="1875" b="1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10942158" y="4392923"/>
            <a:ext cx="6888600" cy="358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>
              <a:buClr>
                <a:srgbClr val="000000"/>
              </a:buClr>
              <a:buSzPts val="3000"/>
            </a:pPr>
            <a:r>
              <a:rPr lang="ru-RU" sz="2800" dirty="0">
                <a:solidFill>
                  <a:schemeClr val="bg1"/>
                </a:solidFill>
                <a:ea typeface="Arial"/>
                <a:cs typeface="Arial"/>
                <a:sym typeface="Arial"/>
              </a:rPr>
              <a:t>3 типа вопросов и абзац новостей. </a:t>
            </a:r>
            <a:endParaRPr sz="2800" dirty="0">
              <a:solidFill>
                <a:schemeClr val="bg1"/>
              </a:solidFill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3000"/>
            </a:pPr>
            <a:endParaRPr sz="2800" dirty="0">
              <a:solidFill>
                <a:schemeClr val="bg1"/>
              </a:solidFill>
              <a:ea typeface="Arial"/>
              <a:cs typeface="Arial"/>
              <a:sym typeface="Arial"/>
            </a:endParaRPr>
          </a:p>
          <a:p>
            <a:pPr marL="371475" indent="-342900">
              <a:lnSpc>
                <a:spcPct val="150000"/>
              </a:lnSpc>
              <a:buClr>
                <a:schemeClr val="dk2"/>
              </a:buClr>
              <a:buSzPts val="3000"/>
              <a:buFont typeface="Arial"/>
              <a:buChar char="•"/>
            </a:pPr>
            <a:r>
              <a:rPr lang="ru-RU" sz="2800" dirty="0">
                <a:solidFill>
                  <a:schemeClr val="bg1"/>
                </a:solidFill>
                <a:ea typeface="Arial"/>
                <a:cs typeface="Arial"/>
                <a:sym typeface="Arial"/>
              </a:rPr>
              <a:t>Simple</a:t>
            </a:r>
            <a:endParaRPr sz="2800" dirty="0">
              <a:solidFill>
                <a:schemeClr val="bg1"/>
              </a:solidFill>
              <a:ea typeface="Arial"/>
              <a:cs typeface="Arial"/>
              <a:sym typeface="Arial"/>
            </a:endParaRPr>
          </a:p>
          <a:p>
            <a:pPr marL="371475" indent="-342900">
              <a:lnSpc>
                <a:spcPct val="150000"/>
              </a:lnSpc>
              <a:buClr>
                <a:schemeClr val="dk2"/>
              </a:buClr>
              <a:buSzPts val="3000"/>
              <a:buFont typeface="Arial"/>
              <a:buChar char="•"/>
            </a:pPr>
            <a:r>
              <a:rPr lang="ru-RU" sz="2800" dirty="0" err="1">
                <a:solidFill>
                  <a:schemeClr val="bg1"/>
                </a:solidFill>
                <a:ea typeface="Arial"/>
                <a:cs typeface="Arial"/>
                <a:sym typeface="Arial"/>
              </a:rPr>
              <a:t>Conditional</a:t>
            </a:r>
            <a:endParaRPr sz="2800" dirty="0">
              <a:solidFill>
                <a:schemeClr val="bg1"/>
              </a:solidFill>
              <a:ea typeface="Arial"/>
              <a:cs typeface="Arial"/>
              <a:sym typeface="Arial"/>
            </a:endParaRPr>
          </a:p>
          <a:p>
            <a:pPr marL="371475" marR="76200" indent="-342900">
              <a:lnSpc>
                <a:spcPct val="150000"/>
              </a:lnSpc>
              <a:buClr>
                <a:schemeClr val="dk2"/>
              </a:buClr>
              <a:buSzPts val="3000"/>
              <a:buFont typeface="Arial"/>
              <a:buChar char="•"/>
            </a:pPr>
            <a:r>
              <a:rPr lang="ru-RU" sz="2800" dirty="0" err="1">
                <a:solidFill>
                  <a:schemeClr val="bg1"/>
                </a:solidFill>
                <a:ea typeface="Arial"/>
                <a:cs typeface="Arial"/>
                <a:sym typeface="Arial"/>
              </a:rPr>
              <a:t>Set</a:t>
            </a:r>
            <a:endParaRPr sz="2800" dirty="0">
              <a:solidFill>
                <a:schemeClr val="bg1"/>
              </a:solidFill>
              <a:ea typeface="Arial"/>
              <a:cs typeface="Arial"/>
              <a:sym typeface="Arial"/>
            </a:endParaRPr>
          </a:p>
          <a:p>
            <a:pPr marL="371475" marR="76200" indent="-342900">
              <a:lnSpc>
                <a:spcPct val="150000"/>
              </a:lnSpc>
              <a:buClr>
                <a:schemeClr val="dk2"/>
              </a:buClr>
              <a:buSzPts val="3000"/>
              <a:buFont typeface="Arial"/>
              <a:buChar char="•"/>
            </a:pPr>
            <a:r>
              <a:rPr lang="ru-RU" sz="2800" dirty="0">
                <a:solidFill>
                  <a:schemeClr val="bg1"/>
                </a:solidFill>
                <a:ea typeface="Arial"/>
                <a:cs typeface="Arial"/>
                <a:sym typeface="Arial"/>
              </a:rPr>
              <a:t>Multi-</a:t>
            </a:r>
            <a:r>
              <a:rPr lang="ru-RU" sz="2800" dirty="0" err="1">
                <a:solidFill>
                  <a:schemeClr val="bg1"/>
                </a:solidFill>
                <a:ea typeface="Arial"/>
                <a:cs typeface="Arial"/>
                <a:sym typeface="Arial"/>
              </a:rPr>
              <a:t>hop</a:t>
            </a:r>
            <a:endParaRPr sz="2800" dirty="0">
              <a:solidFill>
                <a:schemeClr val="bg1"/>
              </a:solidFill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/>
        </p:nvSpPr>
        <p:spPr>
          <a:xfrm>
            <a:off x="1018609" y="1591649"/>
            <a:ext cx="11381850" cy="97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>
              <a:lnSpc>
                <a:spcPct val="90000"/>
              </a:lnSpc>
              <a:buClr>
                <a:schemeClr val="lt1"/>
              </a:buClr>
              <a:buSzPts val="6000"/>
            </a:pPr>
            <a:r>
              <a:rPr lang="en-US" sz="6000" b="1" dirty="0">
                <a:solidFill>
                  <a:srgbClr val="4AD9FF"/>
                </a:solidFill>
                <a:ea typeface="Arial"/>
                <a:cs typeface="Arial"/>
                <a:sym typeface="Arial"/>
              </a:rPr>
              <a:t>MORAG</a:t>
            </a:r>
            <a:r>
              <a:rPr lang="ru-RU" sz="6000" b="1" dirty="0">
                <a:solidFill>
                  <a:schemeClr val="dk2"/>
                </a:solidFill>
                <a:ea typeface="Arial"/>
                <a:cs typeface="Arial"/>
                <a:sym typeface="Arial"/>
              </a:rPr>
              <a:t> </a:t>
            </a:r>
            <a:r>
              <a:rPr lang="ru-RU" sz="6000" b="1" dirty="0">
                <a:solidFill>
                  <a:schemeClr val="bg1"/>
                </a:solidFill>
                <a:ea typeface="Arial"/>
                <a:cs typeface="Arial"/>
                <a:sym typeface="Arial"/>
              </a:rPr>
              <a:t>проверяет </a:t>
            </a:r>
            <a:r>
              <a:rPr lang="en-US" sz="6000" b="1" dirty="0">
                <a:solidFill>
                  <a:schemeClr val="bg1"/>
                </a:solidFill>
                <a:ea typeface="Arial"/>
                <a:cs typeface="Arial"/>
                <a:sym typeface="Arial"/>
              </a:rPr>
              <a:t>DRAGON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938244" y="2703282"/>
            <a:ext cx="8888400" cy="4878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marL="28575" algn="just">
              <a:spcBef>
                <a:spcPts val="750"/>
              </a:spcBef>
              <a:buClr>
                <a:schemeClr val="lt1"/>
              </a:buClr>
              <a:buSzPts val="3000"/>
            </a:pPr>
            <a:r>
              <a:rPr lang="ru-RU" sz="2000" dirty="0">
                <a:solidFill>
                  <a:schemeClr val="bg1"/>
                </a:solidFill>
                <a:ea typeface="Arial"/>
                <a:cs typeface="Arial"/>
                <a:sym typeface="Arial"/>
              </a:rPr>
              <a:t>Многие вопросы </a:t>
            </a:r>
            <a:r>
              <a:rPr lang="en-US" sz="2000" dirty="0">
                <a:solidFill>
                  <a:schemeClr val="bg1"/>
                </a:solidFill>
                <a:ea typeface="Arial"/>
                <a:cs typeface="Arial"/>
                <a:sym typeface="Arial"/>
              </a:rPr>
              <a:t>DRAGON</a:t>
            </a:r>
            <a:r>
              <a:rPr lang="ru-RU" sz="2000" dirty="0">
                <a:solidFill>
                  <a:schemeClr val="bg1"/>
                </a:solidFill>
                <a:ea typeface="Arial"/>
                <a:cs typeface="Arial"/>
                <a:sym typeface="Arial"/>
              </a:rPr>
              <a:t>, как и вопросы от любых автоматических систем, требуют улучшения.</a:t>
            </a:r>
          </a:p>
          <a:p>
            <a:pPr marL="28575" algn="just">
              <a:spcBef>
                <a:spcPts val="750"/>
              </a:spcBef>
              <a:buClr>
                <a:schemeClr val="lt1"/>
              </a:buClr>
              <a:buSzPts val="3000"/>
            </a:pPr>
            <a:endParaRPr lang="ru-RU" sz="2000" dirty="0">
              <a:solidFill>
                <a:schemeClr val="bg1"/>
              </a:solidFill>
              <a:ea typeface="Courier New"/>
              <a:cs typeface="Arial"/>
              <a:sym typeface="Arial"/>
            </a:endParaRPr>
          </a:p>
          <a:p>
            <a:pPr algn="l"/>
            <a:r>
              <a:rPr lang="es-419" sz="2000" b="1" i="0" dirty="0">
                <a:solidFill>
                  <a:srgbClr val="4AD9FF"/>
                </a:solidFill>
                <a:effectLst/>
              </a:rPr>
              <a:t>Q</a:t>
            </a:r>
            <a:r>
              <a:rPr lang="es-419" sz="2000" b="1" i="0" dirty="0">
                <a:solidFill>
                  <a:schemeClr val="bg1"/>
                </a:solidFill>
                <a:effectLst/>
              </a:rPr>
              <a:t>:</a:t>
            </a:r>
            <a:r>
              <a:rPr lang="es-419" sz="2000" b="0" i="0" dirty="0">
                <a:solidFill>
                  <a:schemeClr val="bg1"/>
                </a:solidFill>
                <a:effectLst/>
              </a:rPr>
              <a:t> </a:t>
            </a:r>
            <a:r>
              <a:rPr lang="ru-RU" sz="2000" b="0" i="0" dirty="0">
                <a:solidFill>
                  <a:schemeClr val="bg1"/>
                </a:solidFill>
                <a:effectLst/>
              </a:rPr>
              <a:t>За что была осуждена Лариса Долина?</a:t>
            </a:r>
          </a:p>
          <a:p>
            <a:pPr algn="l"/>
            <a:r>
              <a:rPr lang="es-419" sz="2000" b="1" i="0" dirty="0">
                <a:solidFill>
                  <a:srgbClr val="4AD9FF"/>
                </a:solidFill>
                <a:effectLst/>
              </a:rPr>
              <a:t>Gold</a:t>
            </a:r>
            <a:r>
              <a:rPr lang="es-419" sz="2000" b="1" i="0" dirty="0">
                <a:solidFill>
                  <a:schemeClr val="bg1"/>
                </a:solidFill>
                <a:effectLst/>
              </a:rPr>
              <a:t>:</a:t>
            </a:r>
            <a:r>
              <a:rPr lang="ru-RU" sz="2000" b="1" i="0" dirty="0">
                <a:solidFill>
                  <a:schemeClr val="bg1"/>
                </a:solidFill>
                <a:effectLst/>
              </a:rPr>
              <a:t> </a:t>
            </a:r>
            <a:r>
              <a:rPr lang="ru-RU" sz="2000" dirty="0">
                <a:solidFill>
                  <a:schemeClr val="bg1"/>
                </a:solidFill>
              </a:rPr>
              <a:t>ситуация с квартирой </a:t>
            </a:r>
          </a:p>
          <a:p>
            <a:pPr algn="l"/>
            <a:r>
              <a:rPr lang="es-419" sz="2000" b="1" i="0" dirty="0">
                <a:solidFill>
                  <a:srgbClr val="4AD9FF"/>
                </a:solidFill>
                <a:effectLst/>
              </a:rPr>
              <a:t>Pred</a:t>
            </a:r>
            <a:r>
              <a:rPr lang="es-419" sz="2000" b="1" i="0" dirty="0">
                <a:solidFill>
                  <a:schemeClr val="bg1"/>
                </a:solidFill>
                <a:effectLst/>
              </a:rPr>
              <a:t>:</a:t>
            </a:r>
            <a:r>
              <a:rPr lang="ru-RU" sz="2000" b="1" i="0" dirty="0">
                <a:solidFill>
                  <a:schemeClr val="bg1"/>
                </a:solidFill>
                <a:effectLst/>
              </a:rPr>
              <a:t> </a:t>
            </a:r>
            <a:r>
              <a:rPr lang="ru-RU" sz="2000" b="1" dirty="0">
                <a:solidFill>
                  <a:schemeClr val="bg1"/>
                </a:solidFill>
              </a:rPr>
              <a:t>Лариса Долина не была осуждена.</a:t>
            </a:r>
            <a:r>
              <a:rPr lang="ru-RU" sz="2000" dirty="0">
                <a:solidFill>
                  <a:schemeClr val="bg1"/>
                </a:solidFill>
              </a:rPr>
              <a:t> В базе знаний описан скандал 2024 г. с квартирой в Хамовниках: певица стала жертвой мошенников (с территории Украины), продала жильё Полине Лурье за 112 млн руб., вернула через суд (сделка признана недействительной). Мошенники осуждены на 4–7 лет [2][7][19]. Долина участвовала в гражданских процессах (выселение, обжалование в Верховном суде), имеет налоговый долг ~1 млн руб. за дом в Подмосковье (риск взыскания, без </a:t>
            </a:r>
            <a:r>
              <a:rPr lang="ru-RU" sz="2000" dirty="0" err="1">
                <a:solidFill>
                  <a:schemeClr val="bg1"/>
                </a:solidFill>
              </a:rPr>
              <a:t>уголовки</a:t>
            </a:r>
            <a:r>
              <a:rPr lang="ru-RU" sz="2000" dirty="0">
                <a:solidFill>
                  <a:schemeClr val="bg1"/>
                </a:solidFill>
              </a:rPr>
              <a:t>) [1][4][6]. Нет данных об её осуждении.</a:t>
            </a:r>
            <a:endParaRPr lang="ru-RU" sz="2000" dirty="0">
              <a:solidFill>
                <a:schemeClr val="bg1"/>
              </a:solidFill>
              <a:ea typeface="Courier New"/>
              <a:cs typeface="Arial"/>
              <a:sym typeface="Arial"/>
            </a:endParaRPr>
          </a:p>
          <a:p>
            <a:pPr marL="28575" algn="just">
              <a:spcBef>
                <a:spcPts val="750"/>
              </a:spcBef>
              <a:buClr>
                <a:schemeClr val="lt1"/>
              </a:buClr>
              <a:buSzPts val="3000"/>
            </a:pPr>
            <a:endParaRPr sz="2800" dirty="0">
              <a:solidFill>
                <a:schemeClr val="bg1"/>
              </a:solidFill>
              <a:ea typeface="Courier New"/>
              <a:cs typeface="Courier New"/>
              <a:sym typeface="Courier New"/>
            </a:endParaRPr>
          </a:p>
        </p:txBody>
      </p:sp>
      <p:pic>
        <p:nvPicPr>
          <p:cNvPr id="136" name="Google Shape;136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33859" y="1017743"/>
            <a:ext cx="2164331" cy="216433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8"/>
          <p:cNvSpPr txBox="1"/>
          <p:nvPr/>
        </p:nvSpPr>
        <p:spPr>
          <a:xfrm>
            <a:off x="10885008" y="5539329"/>
            <a:ext cx="6888600" cy="1431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>
              <a:buClr>
                <a:srgbClr val="000000"/>
              </a:buClr>
              <a:buSzPts val="3000"/>
            </a:pPr>
            <a:r>
              <a:rPr lang="ru-RU" sz="2800" dirty="0">
                <a:solidFill>
                  <a:schemeClr val="bg1"/>
                </a:solidFill>
                <a:ea typeface="Arial"/>
                <a:cs typeface="Arial"/>
                <a:sym typeface="Arial"/>
              </a:rPr>
              <a:t>С учетом улучшения, можно говорить о том, что </a:t>
            </a:r>
            <a:r>
              <a:rPr lang="en-US" sz="2800" dirty="0">
                <a:solidFill>
                  <a:schemeClr val="bg1"/>
                </a:solidFill>
                <a:ea typeface="Arial"/>
                <a:cs typeface="Arial"/>
                <a:sym typeface="Arial"/>
              </a:rPr>
              <a:t>MORAG </a:t>
            </a:r>
            <a:r>
              <a:rPr lang="ru-RU" sz="2800" dirty="0">
                <a:solidFill>
                  <a:schemeClr val="bg1"/>
                </a:solidFill>
                <a:ea typeface="Arial"/>
                <a:cs typeface="Arial"/>
                <a:sym typeface="Arial"/>
              </a:rPr>
              <a:t>выбивает 99%</a:t>
            </a:r>
            <a:r>
              <a:rPr lang="en-US" sz="2800" dirty="0">
                <a:solidFill>
                  <a:schemeClr val="bg1"/>
                </a:solidFill>
                <a:ea typeface="Arial"/>
                <a:cs typeface="Arial"/>
                <a:sym typeface="Arial"/>
              </a:rPr>
              <a:t> </a:t>
            </a:r>
            <a:r>
              <a:rPr lang="ru-RU" sz="2800" dirty="0">
                <a:solidFill>
                  <a:schemeClr val="bg1"/>
                </a:solidFill>
                <a:ea typeface="Arial"/>
                <a:cs typeface="Arial"/>
                <a:sym typeface="Arial"/>
              </a:rPr>
              <a:t>на вопросах </a:t>
            </a:r>
            <a:r>
              <a:rPr lang="en-US" sz="2800" dirty="0">
                <a:solidFill>
                  <a:schemeClr val="bg1"/>
                </a:solidFill>
                <a:ea typeface="Arial"/>
                <a:cs typeface="Arial"/>
                <a:sym typeface="Arial"/>
              </a:rPr>
              <a:t>DRAGON</a:t>
            </a:r>
            <a:endParaRPr sz="2800" dirty="0">
              <a:solidFill>
                <a:schemeClr val="bg1"/>
              </a:solidFill>
              <a:ea typeface="Arial"/>
              <a:cs typeface="Arial"/>
              <a:sym typeface="Arial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437F0EA-2F82-591A-5098-9D40D3F90F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244" y="7583718"/>
            <a:ext cx="17349756" cy="2703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6045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1431109" y="3933517"/>
            <a:ext cx="164592" cy="16459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6" name="TextBox 5"/>
          <p:cNvSpPr txBox="1"/>
          <p:nvPr/>
        </p:nvSpPr>
        <p:spPr>
          <a:xfrm>
            <a:off x="1774009" y="3823790"/>
            <a:ext cx="11658600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12121"/>
                </a:solidFill>
                <a:latin typeface="Calibri"/>
              </a:defRPr>
            </a:pPr>
            <a:r>
              <a:rPr sz="2850" dirty="0">
                <a:solidFill>
                  <a:schemeClr val="bg1"/>
                </a:solidFill>
              </a:rPr>
              <a:t>RAG — </a:t>
            </a:r>
            <a:r>
              <a:rPr sz="2850" dirty="0" err="1">
                <a:solidFill>
                  <a:schemeClr val="bg1"/>
                </a:solidFill>
              </a:rPr>
              <a:t>не</a:t>
            </a:r>
            <a:r>
              <a:rPr lang="ru-RU" sz="2850" dirty="0">
                <a:solidFill>
                  <a:schemeClr val="bg1"/>
                </a:solidFill>
              </a:rPr>
              <a:t> работает из коробки</a:t>
            </a:r>
            <a:r>
              <a:rPr sz="285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7" name="Oval 6"/>
          <p:cNvSpPr/>
          <p:nvPr/>
        </p:nvSpPr>
        <p:spPr>
          <a:xfrm>
            <a:off x="1431109" y="4550737"/>
            <a:ext cx="164592" cy="164592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8" name="TextBox 7"/>
          <p:cNvSpPr txBox="1"/>
          <p:nvPr/>
        </p:nvSpPr>
        <p:spPr>
          <a:xfrm>
            <a:off x="1774009" y="4441009"/>
            <a:ext cx="11658600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12121"/>
                </a:solidFill>
                <a:latin typeface="Calibri"/>
              </a:defRPr>
            </a:pPr>
            <a:r>
              <a:rPr sz="2850" dirty="0" err="1">
                <a:solidFill>
                  <a:schemeClr val="bg1"/>
                </a:solidFill>
              </a:rPr>
              <a:t>Это</a:t>
            </a:r>
            <a:r>
              <a:rPr sz="2850" dirty="0">
                <a:solidFill>
                  <a:schemeClr val="bg1"/>
                </a:solidFill>
              </a:rPr>
              <a:t> </a:t>
            </a:r>
            <a:r>
              <a:rPr sz="2850" dirty="0" err="1">
                <a:solidFill>
                  <a:schemeClr val="bg1"/>
                </a:solidFill>
              </a:rPr>
              <a:t>цикл</a:t>
            </a:r>
            <a:r>
              <a:rPr sz="2850" dirty="0">
                <a:solidFill>
                  <a:schemeClr val="bg1"/>
                </a:solidFill>
              </a:rPr>
              <a:t>: </a:t>
            </a:r>
            <a:r>
              <a:rPr sz="2850" dirty="0" err="1">
                <a:solidFill>
                  <a:schemeClr val="bg1"/>
                </a:solidFill>
              </a:rPr>
              <a:t>измерил</a:t>
            </a:r>
            <a:r>
              <a:rPr sz="2850" dirty="0">
                <a:solidFill>
                  <a:schemeClr val="bg1"/>
                </a:solidFill>
              </a:rPr>
              <a:t> → </a:t>
            </a:r>
            <a:r>
              <a:rPr sz="2850" dirty="0" err="1">
                <a:solidFill>
                  <a:schemeClr val="bg1"/>
                </a:solidFill>
              </a:rPr>
              <a:t>нашёл</a:t>
            </a:r>
            <a:r>
              <a:rPr sz="2850" dirty="0">
                <a:solidFill>
                  <a:schemeClr val="bg1"/>
                </a:solidFill>
              </a:rPr>
              <a:t> </a:t>
            </a:r>
            <a:r>
              <a:rPr sz="2850" dirty="0" err="1">
                <a:solidFill>
                  <a:schemeClr val="bg1"/>
                </a:solidFill>
              </a:rPr>
              <a:t>ошибку</a:t>
            </a:r>
            <a:r>
              <a:rPr sz="2850" dirty="0">
                <a:solidFill>
                  <a:schemeClr val="bg1"/>
                </a:solidFill>
              </a:rPr>
              <a:t> → </a:t>
            </a:r>
            <a:r>
              <a:rPr sz="2850" dirty="0" err="1">
                <a:solidFill>
                  <a:schemeClr val="bg1"/>
                </a:solidFill>
              </a:rPr>
              <a:t>починил</a:t>
            </a:r>
            <a:r>
              <a:rPr sz="2850" dirty="0">
                <a:solidFill>
                  <a:schemeClr val="bg1"/>
                </a:solidFill>
              </a:rPr>
              <a:t> → </a:t>
            </a:r>
            <a:r>
              <a:rPr sz="2850" dirty="0" err="1">
                <a:solidFill>
                  <a:schemeClr val="bg1"/>
                </a:solidFill>
              </a:rPr>
              <a:t>измерил</a:t>
            </a:r>
            <a:r>
              <a:rPr sz="2850" dirty="0">
                <a:solidFill>
                  <a:schemeClr val="bg1"/>
                </a:solidFill>
              </a:rPr>
              <a:t> </a:t>
            </a:r>
            <a:r>
              <a:rPr sz="2850" dirty="0" err="1">
                <a:solidFill>
                  <a:schemeClr val="bg1"/>
                </a:solidFill>
              </a:rPr>
              <a:t>снова</a:t>
            </a:r>
            <a:endParaRPr sz="2850" dirty="0">
              <a:solidFill>
                <a:schemeClr val="bg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1431109" y="5167957"/>
            <a:ext cx="164592" cy="164592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0" name="TextBox 9"/>
          <p:cNvSpPr txBox="1"/>
          <p:nvPr/>
        </p:nvSpPr>
        <p:spPr>
          <a:xfrm>
            <a:off x="1774009" y="5058229"/>
            <a:ext cx="16035020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12121"/>
                </a:solidFill>
                <a:latin typeface="Calibri"/>
              </a:defRPr>
            </a:pPr>
            <a:r>
              <a:rPr lang="ru-RU" sz="2850" dirty="0">
                <a:solidFill>
                  <a:schemeClr val="bg1"/>
                </a:solidFill>
              </a:rPr>
              <a:t>Используй</a:t>
            </a:r>
            <a:r>
              <a:rPr sz="2850" dirty="0">
                <a:solidFill>
                  <a:schemeClr val="bg1"/>
                </a:solidFill>
              </a:rPr>
              <a:t> </a:t>
            </a:r>
            <a:r>
              <a:rPr sz="2850" dirty="0" err="1">
                <a:solidFill>
                  <a:schemeClr val="bg1"/>
                </a:solidFill>
              </a:rPr>
              <a:t>бенчмарки</a:t>
            </a:r>
            <a:r>
              <a:rPr lang="ru-RU" sz="2850" dirty="0">
                <a:solidFill>
                  <a:schemeClr val="bg1"/>
                </a:solidFill>
              </a:rPr>
              <a:t> по корпусу документов</a:t>
            </a:r>
            <a:r>
              <a:rPr sz="2850" dirty="0">
                <a:solidFill>
                  <a:schemeClr val="bg1"/>
                </a:solidFill>
              </a:rPr>
              <a:t>, </a:t>
            </a:r>
            <a:r>
              <a:rPr sz="2850" dirty="0" err="1">
                <a:solidFill>
                  <a:schemeClr val="bg1"/>
                </a:solidFill>
              </a:rPr>
              <a:t>смотрите</a:t>
            </a:r>
            <a:r>
              <a:rPr sz="2850" dirty="0">
                <a:solidFill>
                  <a:schemeClr val="bg1"/>
                </a:solidFill>
              </a:rPr>
              <a:t> </a:t>
            </a:r>
            <a:r>
              <a:rPr sz="2850" dirty="0" err="1">
                <a:solidFill>
                  <a:schemeClr val="bg1"/>
                </a:solidFill>
              </a:rPr>
              <a:t>на</a:t>
            </a:r>
            <a:r>
              <a:rPr sz="2850" dirty="0">
                <a:solidFill>
                  <a:schemeClr val="bg1"/>
                </a:solidFill>
              </a:rPr>
              <a:t> </a:t>
            </a:r>
            <a:r>
              <a:rPr sz="2850" dirty="0" err="1">
                <a:solidFill>
                  <a:schemeClr val="bg1"/>
                </a:solidFill>
              </a:rPr>
              <a:t>свои</a:t>
            </a:r>
            <a:r>
              <a:rPr sz="2850" dirty="0">
                <a:solidFill>
                  <a:schemeClr val="bg1"/>
                </a:solidFill>
              </a:rPr>
              <a:t> </a:t>
            </a:r>
            <a:r>
              <a:rPr sz="2850" dirty="0" err="1">
                <a:solidFill>
                  <a:schemeClr val="bg1"/>
                </a:solidFill>
              </a:rPr>
              <a:t>данные</a:t>
            </a:r>
            <a:endParaRPr sz="2850" dirty="0">
              <a:solidFill>
                <a:schemeClr val="bg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1431109" y="5802904"/>
            <a:ext cx="164592" cy="164592"/>
          </a:xfrm>
          <a:prstGeom prst="ellipse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4" name="TextBox 13"/>
          <p:cNvSpPr txBox="1"/>
          <p:nvPr/>
        </p:nvSpPr>
        <p:spPr>
          <a:xfrm>
            <a:off x="1774009" y="5693176"/>
            <a:ext cx="11658600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12121"/>
                </a:solidFill>
                <a:latin typeface="Calibri"/>
              </a:defRPr>
            </a:pPr>
            <a:r>
              <a:rPr sz="2850" dirty="0" err="1">
                <a:solidFill>
                  <a:schemeClr val="bg1"/>
                </a:solidFill>
              </a:rPr>
              <a:t>Участвуй</a:t>
            </a:r>
            <a:r>
              <a:rPr sz="2850" dirty="0">
                <a:solidFill>
                  <a:schemeClr val="bg1"/>
                </a:solidFill>
              </a:rPr>
              <a:t> </a:t>
            </a:r>
            <a:r>
              <a:rPr sz="2850" dirty="0" err="1">
                <a:solidFill>
                  <a:schemeClr val="bg1"/>
                </a:solidFill>
              </a:rPr>
              <a:t>в</a:t>
            </a:r>
            <a:r>
              <a:rPr sz="2850" dirty="0">
                <a:solidFill>
                  <a:schemeClr val="bg1"/>
                </a:solidFill>
              </a:rPr>
              <a:t> </a:t>
            </a:r>
            <a:r>
              <a:rPr sz="2850" dirty="0" err="1">
                <a:solidFill>
                  <a:schemeClr val="bg1"/>
                </a:solidFill>
              </a:rPr>
              <a:t>соревнованиях</a:t>
            </a:r>
            <a:r>
              <a:rPr sz="2850" dirty="0">
                <a:solidFill>
                  <a:schemeClr val="bg1"/>
                </a:solidFill>
              </a:rPr>
              <a:t> — </a:t>
            </a:r>
            <a:r>
              <a:rPr sz="2850" dirty="0" err="1">
                <a:solidFill>
                  <a:schemeClr val="bg1"/>
                </a:solidFill>
              </a:rPr>
              <a:t>лучший</a:t>
            </a:r>
            <a:r>
              <a:rPr sz="2850" dirty="0">
                <a:solidFill>
                  <a:schemeClr val="bg1"/>
                </a:solidFill>
              </a:rPr>
              <a:t> </a:t>
            </a:r>
            <a:r>
              <a:rPr sz="2850" dirty="0" err="1">
                <a:solidFill>
                  <a:schemeClr val="bg1"/>
                </a:solidFill>
              </a:rPr>
              <a:t>бенчмарк</a:t>
            </a:r>
            <a:endParaRPr sz="2850" dirty="0">
              <a:solidFill>
                <a:schemeClr val="bg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1431109" y="6420123"/>
            <a:ext cx="164592" cy="164592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700"/>
          </a:p>
        </p:txBody>
      </p:sp>
      <p:sp>
        <p:nvSpPr>
          <p:cNvPr id="16" name="TextBox 15"/>
          <p:cNvSpPr txBox="1"/>
          <p:nvPr/>
        </p:nvSpPr>
        <p:spPr>
          <a:xfrm>
            <a:off x="1774009" y="6310395"/>
            <a:ext cx="11658600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212121"/>
                </a:solidFill>
                <a:latin typeface="Calibri"/>
              </a:defRPr>
            </a:pPr>
            <a:r>
              <a:rPr sz="2850" dirty="0" err="1">
                <a:solidFill>
                  <a:schemeClr val="bg1"/>
                </a:solidFill>
              </a:rPr>
              <a:t>Чанкинг</a:t>
            </a:r>
            <a:r>
              <a:rPr sz="2850" dirty="0">
                <a:solidFill>
                  <a:schemeClr val="bg1"/>
                </a:solidFill>
              </a:rPr>
              <a:t>, </a:t>
            </a:r>
            <a:r>
              <a:rPr sz="2850" dirty="0" err="1">
                <a:solidFill>
                  <a:schemeClr val="bg1"/>
                </a:solidFill>
              </a:rPr>
              <a:t>эмбеддинги</a:t>
            </a:r>
            <a:r>
              <a:rPr sz="2850" dirty="0">
                <a:solidFill>
                  <a:schemeClr val="bg1"/>
                </a:solidFill>
              </a:rPr>
              <a:t>, grounding — </a:t>
            </a:r>
            <a:r>
              <a:rPr sz="2850" dirty="0" err="1">
                <a:solidFill>
                  <a:schemeClr val="bg1"/>
                </a:solidFill>
              </a:rPr>
              <a:t>дьявол</a:t>
            </a:r>
            <a:r>
              <a:rPr sz="2850" dirty="0">
                <a:solidFill>
                  <a:schemeClr val="bg1"/>
                </a:solidFill>
              </a:rPr>
              <a:t> </a:t>
            </a:r>
            <a:r>
              <a:rPr sz="2850" dirty="0" err="1">
                <a:solidFill>
                  <a:schemeClr val="bg1"/>
                </a:solidFill>
              </a:rPr>
              <a:t>в</a:t>
            </a:r>
            <a:r>
              <a:rPr sz="2850" dirty="0">
                <a:solidFill>
                  <a:schemeClr val="bg1"/>
                </a:solidFill>
              </a:rPr>
              <a:t> </a:t>
            </a:r>
            <a:r>
              <a:rPr sz="2850" dirty="0" err="1">
                <a:solidFill>
                  <a:schemeClr val="bg1"/>
                </a:solidFill>
              </a:rPr>
              <a:t>деталях</a:t>
            </a:r>
            <a:endParaRPr sz="2850" dirty="0">
              <a:solidFill>
                <a:schemeClr val="bg1"/>
              </a:solidFill>
            </a:endParaRPr>
          </a:p>
        </p:txBody>
      </p:sp>
      <p:sp>
        <p:nvSpPr>
          <p:cNvPr id="3" name="Google Shape;343;p13">
            <a:extLst>
              <a:ext uri="{FF2B5EF4-FFF2-40B4-BE49-F238E27FC236}">
                <a16:creationId xmlns:a16="http://schemas.microsoft.com/office/drawing/2014/main" id="{E1B076BC-82D7-7054-A08A-658F297D0753}"/>
              </a:ext>
            </a:extLst>
          </p:cNvPr>
          <p:cNvSpPr txBox="1">
            <a:spLocks/>
          </p:cNvSpPr>
          <p:nvPr/>
        </p:nvSpPr>
        <p:spPr>
          <a:xfrm>
            <a:off x="1553029" y="2170567"/>
            <a:ext cx="10356850" cy="14589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0" tIns="34275" rIns="68570" bIns="34275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6000" b="1" dirty="0">
                <a:solidFill>
                  <a:schemeClr val="bg1"/>
                </a:solidFill>
                <a:latin typeface="+mn-lt"/>
              </a:rPr>
              <a:t>Если нужен </a:t>
            </a:r>
            <a:r>
              <a:rPr lang="en-US" sz="6000" b="1" dirty="0">
                <a:solidFill>
                  <a:schemeClr val="bg1"/>
                </a:solidFill>
                <a:latin typeface="+mn-lt"/>
              </a:rPr>
              <a:t>RAG</a:t>
            </a:r>
            <a:r>
              <a:rPr lang="ru-RU" sz="6000" b="1" dirty="0">
                <a:solidFill>
                  <a:schemeClr val="bg1"/>
                </a:solidFill>
                <a:latin typeface="+mn-lt"/>
              </a:rPr>
              <a:t>, </a:t>
            </a:r>
            <a:r>
              <a:rPr lang="ru-RU" sz="6000" b="1" dirty="0">
                <a:solidFill>
                  <a:srgbClr val="4AD9FF"/>
                </a:solidFill>
                <a:latin typeface="+mn-lt"/>
              </a:rPr>
              <a:t>не забудь:</a:t>
            </a:r>
            <a:endParaRPr lang="es-419" sz="60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3498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1;p34">
            <a:extLst>
              <a:ext uri="{FF2B5EF4-FFF2-40B4-BE49-F238E27FC236}">
                <a16:creationId xmlns:a16="http://schemas.microsoft.com/office/drawing/2014/main" id="{B3B995E7-FA67-0D79-E0B5-35DF17C6A7B6}"/>
              </a:ext>
            </a:extLst>
          </p:cNvPr>
          <p:cNvSpPr txBox="1">
            <a:spLocks/>
          </p:cNvSpPr>
          <p:nvPr/>
        </p:nvSpPr>
        <p:spPr>
          <a:xfrm>
            <a:off x="1787462" y="1567543"/>
            <a:ext cx="13570745" cy="73333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70" tIns="34275" rIns="68570" bIns="34275" rtlCol="0" anchor="t" anchorCtr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900"/>
              </a:spcBef>
              <a:buClr>
                <a:schemeClr val="tx1"/>
              </a:buClr>
              <a:buSzPct val="100000"/>
              <a:buNone/>
            </a:pPr>
            <a:r>
              <a:rPr lang="ru-RU" sz="6000" b="1" dirty="0">
                <a:solidFill>
                  <a:schemeClr val="bg1"/>
                </a:solidFill>
              </a:rPr>
              <a:t>Планы </a:t>
            </a:r>
            <a:r>
              <a:rPr lang="ru-RU" sz="6000" b="1" dirty="0">
                <a:solidFill>
                  <a:srgbClr val="4AD9FF"/>
                </a:solidFill>
              </a:rPr>
              <a:t>доработки</a:t>
            </a:r>
            <a:r>
              <a:rPr lang="ru-RU" sz="6000" b="1" dirty="0">
                <a:solidFill>
                  <a:schemeClr val="bg1"/>
                </a:solidFill>
              </a:rPr>
              <a:t> </a:t>
            </a:r>
            <a:r>
              <a:rPr lang="en-US" sz="6000" b="1" dirty="0">
                <a:solidFill>
                  <a:schemeClr val="bg1"/>
                </a:solidFill>
              </a:rPr>
              <a:t>MORAG</a:t>
            </a:r>
            <a:endParaRPr lang="ru-RU" sz="6000" b="1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900"/>
              </a:spcBef>
              <a:buClr>
                <a:schemeClr val="tx1"/>
              </a:buClr>
              <a:buSzPct val="100000"/>
              <a:buNone/>
            </a:pPr>
            <a:r>
              <a:rPr lang="en-US" sz="27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- </a:t>
            </a:r>
            <a:r>
              <a:rPr lang="ru-RU" sz="27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встроенная система создания </a:t>
            </a:r>
            <a:r>
              <a:rPr lang="ru-RU" sz="2700" b="1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голден</a:t>
            </a:r>
            <a:r>
              <a:rPr lang="ru-RU" sz="27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-сета вопросов</a:t>
            </a:r>
            <a:r>
              <a:rPr lang="en-US" sz="27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</a:t>
            </a:r>
            <a:r>
              <a:rPr lang="ru-RU" sz="27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ответов и цитирования</a:t>
            </a:r>
          </a:p>
          <a:p>
            <a:pPr marL="0" indent="0">
              <a:lnSpc>
                <a:spcPct val="150000"/>
              </a:lnSpc>
              <a:spcBef>
                <a:spcPts val="900"/>
              </a:spcBef>
              <a:buClr>
                <a:schemeClr val="tx1"/>
              </a:buClr>
              <a:buSzPct val="100000"/>
              <a:buNone/>
            </a:pPr>
            <a:r>
              <a:rPr lang="ru-RU" sz="27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- создание </a:t>
            </a:r>
            <a:r>
              <a:rPr lang="ru-RU" sz="2700" b="1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голден</a:t>
            </a:r>
            <a:r>
              <a:rPr lang="ru-RU" sz="27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-сета:</a:t>
            </a:r>
          </a:p>
          <a:p>
            <a:pPr>
              <a:lnSpc>
                <a:spcPct val="150000"/>
              </a:lnSpc>
              <a:spcBef>
                <a:spcPts val="900"/>
              </a:spcBef>
              <a:buClr>
                <a:srgbClr val="4AD9FF"/>
              </a:buClr>
              <a:buSzPct val="100000"/>
            </a:pPr>
            <a:r>
              <a:rPr lang="ru-RU" sz="27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Детерминированные вопросы</a:t>
            </a:r>
          </a:p>
          <a:p>
            <a:pPr>
              <a:lnSpc>
                <a:spcPct val="150000"/>
              </a:lnSpc>
              <a:spcBef>
                <a:spcPts val="900"/>
              </a:spcBef>
              <a:buClr>
                <a:srgbClr val="4AD9FF"/>
              </a:buClr>
              <a:buSzPct val="100000"/>
            </a:pPr>
            <a:r>
              <a:rPr lang="ru-RU" sz="27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Агентские вопросы (по нескольким частям документа или корпуса)</a:t>
            </a:r>
          </a:p>
          <a:p>
            <a:pPr marL="0" indent="0">
              <a:lnSpc>
                <a:spcPct val="150000"/>
              </a:lnSpc>
              <a:spcBef>
                <a:spcPts val="900"/>
              </a:spcBef>
              <a:buClr>
                <a:schemeClr val="tx1"/>
              </a:buClr>
              <a:buSzPct val="100000"/>
              <a:buNone/>
            </a:pPr>
            <a:r>
              <a:rPr lang="ru-RU" sz="27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- встроенная система итеративного улучшения </a:t>
            </a:r>
            <a:r>
              <a:rPr lang="ru-RU" sz="2700" b="1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голден</a:t>
            </a:r>
            <a:r>
              <a:rPr lang="ru-RU" sz="27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-сета</a:t>
            </a:r>
          </a:p>
          <a:p>
            <a:pPr marL="0" indent="0">
              <a:lnSpc>
                <a:spcPct val="150000"/>
              </a:lnSpc>
              <a:spcBef>
                <a:spcPts val="900"/>
              </a:spcBef>
              <a:buClr>
                <a:schemeClr val="tx1"/>
              </a:buClr>
              <a:buSzPct val="100000"/>
              <a:buNone/>
            </a:pPr>
            <a:endParaRPr lang="es-419" sz="2700" b="1" dirty="0"/>
          </a:p>
        </p:txBody>
      </p:sp>
    </p:spTree>
    <p:extLst>
      <p:ext uri="{BB962C8B-B14F-4D97-AF65-F5344CB8AC3E}">
        <p14:creationId xmlns:p14="http://schemas.microsoft.com/office/powerpoint/2010/main" val="12886032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3"/>
          <p:cNvSpPr txBox="1"/>
          <p:nvPr/>
        </p:nvSpPr>
        <p:spPr>
          <a:xfrm>
            <a:off x="5542996" y="3050381"/>
            <a:ext cx="7201935" cy="295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algn="ctr" defTabSz="640079">
              <a:lnSpc>
                <a:spcPct val="85000"/>
              </a:lnSpc>
              <a:defRPr sz="18900" b="1" spc="-979">
                <a:solidFill>
                  <a:srgbClr val="4AD8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Q</a:t>
            </a:r>
            <a:r>
              <a:rPr dirty="0">
                <a:solidFill>
                  <a:schemeClr val="bg1"/>
                </a:solidFill>
              </a:rPr>
              <a:t>&amp;A</a:t>
            </a:r>
          </a:p>
        </p:txBody>
      </p:sp>
      <p:sp>
        <p:nvSpPr>
          <p:cNvPr id="185" name="Text 4"/>
          <p:cNvSpPr txBox="1"/>
          <p:nvPr/>
        </p:nvSpPr>
        <p:spPr>
          <a:xfrm>
            <a:off x="4931816" y="6193630"/>
            <a:ext cx="8424368" cy="5762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algn="ctr" defTabSz="868680">
              <a:defRPr sz="342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Задавайте вопросы — обсудим детали</a:t>
            </a:r>
          </a:p>
        </p:txBody>
      </p:sp>
      <p:sp>
        <p:nvSpPr>
          <p:cNvPr id="186" name="Text 5"/>
          <p:cNvSpPr txBox="1"/>
          <p:nvPr/>
        </p:nvSpPr>
        <p:spPr>
          <a:xfrm>
            <a:off x="3903423" y="6884193"/>
            <a:ext cx="10481154" cy="390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algn="ctr">
              <a:defRPr sz="2100" spc="100">
                <a:solidFill>
                  <a:srgbClr val="FFFFFF">
                    <a:alpha val="32000"/>
                  </a:srgb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ODS.AI/EVENTS/DATAFEST2026</a:t>
            </a:r>
          </a:p>
        </p:txBody>
      </p:sp>
      <p:pic>
        <p:nvPicPr>
          <p:cNvPr id="187" name="Image 0" descr="Image 0"/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952818" y="492918"/>
            <a:ext cx="2001218" cy="2667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604270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image-1-1.jpeg" descr="image-1-1.jpeg"/>
          <p:cNvPicPr>
            <a:picLocks noChangeAspect="1"/>
          </p:cNvPicPr>
          <p:nvPr/>
        </p:nvPicPr>
        <p:blipFill>
          <a:blip r:embed="rId2">
            <a:alphaModFix amt="20477"/>
          </a:blip>
          <a:stretch>
            <a:fillRect/>
          </a:stretch>
        </p:blipFill>
        <p:spPr>
          <a:xfrm>
            <a:off x="-9385121" y="-4570"/>
            <a:ext cx="46291501" cy="10287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952500"/>
            <a:ext cx="4002436" cy="533400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Shape 3"/>
          <p:cNvSpPr/>
          <p:nvPr/>
        </p:nvSpPr>
        <p:spPr>
          <a:xfrm>
            <a:off x="952500" y="8185150"/>
            <a:ext cx="16383000" cy="12701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2" name="Text 4"/>
          <p:cNvSpPr txBox="1"/>
          <p:nvPr/>
        </p:nvSpPr>
        <p:spPr>
          <a:xfrm>
            <a:off x="952500" y="8539163"/>
            <a:ext cx="1686075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200">
                <a:solidFill>
                  <a:srgbClr val="FFFFFF">
                    <a:alpha val="60000"/>
                  </a:srgb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TELEGRAM</a:t>
            </a:r>
          </a:p>
        </p:txBody>
      </p:sp>
      <p:sp>
        <p:nvSpPr>
          <p:cNvPr id="193" name="Text 5"/>
          <p:cNvSpPr txBox="1"/>
          <p:nvPr/>
        </p:nvSpPr>
        <p:spPr>
          <a:xfrm>
            <a:off x="952500" y="8972550"/>
            <a:ext cx="2667000" cy="520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96111">
              <a:defRPr sz="2352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/>
              <a:t>@</a:t>
            </a:r>
            <a:r>
              <a:rPr lang="en-US" dirty="0" err="1"/>
              <a:t>getdatakomarov</a:t>
            </a:r>
            <a:endParaRPr dirty="0"/>
          </a:p>
        </p:txBody>
      </p:sp>
      <p:sp>
        <p:nvSpPr>
          <p:cNvPr id="196" name="Text 8"/>
          <p:cNvSpPr txBox="1"/>
          <p:nvPr/>
        </p:nvSpPr>
        <p:spPr>
          <a:xfrm>
            <a:off x="6895727" y="8539163"/>
            <a:ext cx="3186963" cy="33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200">
                <a:solidFill>
                  <a:srgbClr val="FFFFFF">
                    <a:alpha val="60000"/>
                  </a:srgb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SLIDES</a:t>
            </a:r>
          </a:p>
        </p:txBody>
      </p:sp>
      <p:sp>
        <p:nvSpPr>
          <p:cNvPr id="197" name="Text 9"/>
          <p:cNvSpPr txBox="1"/>
          <p:nvPr/>
        </p:nvSpPr>
        <p:spPr>
          <a:xfrm>
            <a:off x="6895726" y="8972549"/>
            <a:ext cx="5615587" cy="1044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defRPr sz="2376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dirty="0" err="1"/>
              <a:t>github.com</a:t>
            </a:r>
            <a:r>
              <a:rPr dirty="0"/>
              <a:t>/</a:t>
            </a:r>
            <a:r>
              <a:rPr lang="en-US" dirty="0" err="1"/>
              <a:t>catonmoon</a:t>
            </a:r>
            <a:r>
              <a:rPr dirty="0"/>
              <a:t>/</a:t>
            </a:r>
            <a:r>
              <a:rPr lang="en-US" dirty="0"/>
              <a:t>slides</a:t>
            </a:r>
            <a:endParaRPr dirty="0"/>
          </a:p>
        </p:txBody>
      </p:sp>
      <p:sp>
        <p:nvSpPr>
          <p:cNvPr id="198" name="Text 2"/>
          <p:cNvSpPr txBox="1"/>
          <p:nvPr/>
        </p:nvSpPr>
        <p:spPr>
          <a:xfrm>
            <a:off x="888682" y="5528139"/>
            <a:ext cx="16510636" cy="2315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b">
            <a:normAutofit/>
          </a:bodyPr>
          <a:lstStyle>
            <a:lvl1pPr defTabSz="841247">
              <a:defRPr sz="14720" b="1" spc="-538">
                <a:solidFill>
                  <a:srgbClr val="4AD8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rPr lang="es-419" sz="9600" b="0" dirty="0">
                <a:solidFill>
                  <a:schemeClr val="bg1"/>
                </a:solidFill>
                <a:latin typeface="+mn-lt"/>
              </a:rPr>
              <a:t>github.com/catonmoon/</a:t>
            </a:r>
            <a:r>
              <a:rPr lang="es-419" sz="9600" b="0" dirty="0">
                <a:latin typeface="+mn-lt"/>
              </a:rPr>
              <a:t>morag</a:t>
            </a:r>
            <a:endParaRPr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7146161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1508</Words>
  <Application>Microsoft Macintosh PowerPoint</Application>
  <PresentationFormat>Произвольный</PresentationFormat>
  <Paragraphs>194</Paragraphs>
  <Slides>21</Slides>
  <Notes>7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21</vt:i4>
      </vt:variant>
    </vt:vector>
  </HeadingPairs>
  <TitlesOfParts>
    <vt:vector size="29" baseType="lpstr">
      <vt:lpstr>Arial</vt:lpstr>
      <vt:lpstr>Calibri</vt:lpstr>
      <vt:lpstr>Calibri Light</vt:lpstr>
      <vt:lpstr>Courier New</vt:lpstr>
      <vt:lpstr>Helvetica</vt:lpstr>
      <vt:lpstr>Roboto</vt:lpstr>
      <vt:lpstr>Office Theme</vt:lpstr>
      <vt:lpstr>Специальное оформление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Технические фишки MORAG</vt:lpstr>
      <vt:lpstr>И ещё он агентский (стал во время соревнования)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Нет универсального RAG</vt:lpstr>
      <vt:lpstr>Цикл разработки RAG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Комаров Иван Владимирович</cp:lastModifiedBy>
  <cp:revision>1</cp:revision>
  <dcterms:modified xsi:type="dcterms:W3CDTF">2026-05-25T12:00:30Z</dcterms:modified>
</cp:coreProperties>
</file>